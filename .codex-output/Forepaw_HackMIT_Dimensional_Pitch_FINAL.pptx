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8e5173a2eb94dfa" /><Relationship Type="http://schemas.openxmlformats.org/officeDocument/2006/relationships/extended-properties" Target="/docProps/app.xml" Id="R2b57a74426964000" /><Relationship Type="http://schemas.openxmlformats.org/officeDocument/2006/relationships/officeDocument" Target="/ppt/presentation.xml" Id="Ra43523d819cf4d9e" /></Relationships>
</file>

<file path=ppt/presentation.xml><?xml version="1.0" encoding="utf-8"?>
<p:presentation xmlns:p="http://schemas.openxmlformats.org/presentationml/2006/main">
  <p:sldMasterIdLst>
    <p:sldMasterId xmlns:r="http://schemas.openxmlformats.org/officeDocument/2006/relationships" id="2147483648" r:id="Rf26345f7995f44f8"/>
  </p:sldMasterIdLst>
  <p:notesMasterIdLst>
    <p:notesMasterId xmlns:r="http://schemas.openxmlformats.org/officeDocument/2006/relationships" r:id="Raaae5768e8f44571"/>
  </p:notesMasterIdLst>
  <p:sldIdLst>
    <p:sldId xmlns:r="http://schemas.openxmlformats.org/officeDocument/2006/relationships" id="256" r:id="Re3b0f23c83a74080"/>
    <p:sldId xmlns:r="http://schemas.openxmlformats.org/officeDocument/2006/relationships" id="257" r:id="Rf315161b093b461d"/>
    <p:sldId xmlns:r="http://schemas.openxmlformats.org/officeDocument/2006/relationships" id="258" r:id="R90990501f8c34ed1"/>
    <p:sldId xmlns:r="http://schemas.openxmlformats.org/officeDocument/2006/relationships" id="259" r:id="R216e0a185d574092"/>
    <p:sldId xmlns:r="http://schemas.openxmlformats.org/officeDocument/2006/relationships" id="260" r:id="Rfd76dc64b9324c50"/>
    <p:sldId xmlns:r="http://schemas.openxmlformats.org/officeDocument/2006/relationships" id="261" r:id="Rf3a8d7508b394c8e"/>
    <p:sldId xmlns:r="http://schemas.openxmlformats.org/officeDocument/2006/relationships" id="262" r:id="R6d3bd7cb965647b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4cfe7d4cc594bd1" /><Relationship Type="http://schemas.openxmlformats.org/officeDocument/2006/relationships/slideMaster" Target="/ppt/slideMasters/slideMaster1.xml" Id="Rf26345f7995f44f8" /><Relationship Type="http://schemas.openxmlformats.org/officeDocument/2006/relationships/notesMaster" Target="/ppt/notesMasters/notesMaster1.xml" Id="Raaae5768e8f44571" /><Relationship Type="http://schemas.openxmlformats.org/officeDocument/2006/relationships/presProps" Target="/ppt/presProps.xml" Id="R040053e25bb84975" /><Relationship Type="http://schemas.openxmlformats.org/officeDocument/2006/relationships/tableStyles" Target="/ppt/tableStyles.xml" Id="R9839ec19692a4fd0" /><Relationship Type="http://schemas.openxmlformats.org/officeDocument/2006/relationships/slide" Target="/ppt/slides/slide1.xml" Id="Re3b0f23c83a74080" /><Relationship Type="http://schemas.openxmlformats.org/officeDocument/2006/relationships/slide" Target="/ppt/slides/slide2.xml" Id="Rf315161b093b461d" /><Relationship Type="http://schemas.openxmlformats.org/officeDocument/2006/relationships/slide" Target="/ppt/slides/slide3.xml" Id="R90990501f8c34ed1" /><Relationship Type="http://schemas.openxmlformats.org/officeDocument/2006/relationships/slide" Target="/ppt/slides/slide4.xml" Id="R216e0a185d574092" /><Relationship Type="http://schemas.openxmlformats.org/officeDocument/2006/relationships/slide" Target="/ppt/slides/slide5.xml" Id="Rfd76dc64b9324c50" /><Relationship Type="http://schemas.openxmlformats.org/officeDocument/2006/relationships/slide" Target="/ppt/slides/slide6.xml" Id="Rf3a8d7508b394c8e" /><Relationship Type="http://schemas.openxmlformats.org/officeDocument/2006/relationships/slide" Target="/ppt/slides/slide7.xml" Id="R6d3bd7cb965647b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b893cf97eaa4a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c70b3b1e131402f" /><Relationship Type="http://schemas.openxmlformats.org/officeDocument/2006/relationships/notesMaster" Target="/ppt/notesMasters/notesMaster1.xml" Id="R50c71854b3c345a3" /></Relationships>
</file>

<file path=ppt/notesSlides/_rels/notesSlide2.xml.rels>&#65279;<?xml version="1.0" encoding="utf-8"?><Relationships xmlns="http://schemas.openxmlformats.org/package/2006/relationships"><Relationship Type="http://schemas.openxmlformats.org/officeDocument/2006/relationships/slide" Target="/ppt/slides/slide2.xml" Id="Rec53cde7bfa64131" /><Relationship Type="http://schemas.openxmlformats.org/officeDocument/2006/relationships/notesMaster" Target="/ppt/notesMasters/notesMaster1.xml" Id="Rcb8820a845484cf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e536b2d95bc4069" /><Relationship Type="http://schemas.openxmlformats.org/officeDocument/2006/relationships/notesMaster" Target="/ppt/notesMasters/notesMaster1.xml" Id="R5aa4e8fe8f4a4a5d" /></Relationships>
</file>

<file path=ppt/notesSlides/_rels/notesSlide4.xml.rels>&#65279;<?xml version="1.0" encoding="utf-8"?><Relationships xmlns="http://schemas.openxmlformats.org/package/2006/relationships"><Relationship Type="http://schemas.openxmlformats.org/officeDocument/2006/relationships/slide" Target="/ppt/slides/slide4.xml" Id="Rc0cd183e82c54031" /><Relationship Type="http://schemas.openxmlformats.org/officeDocument/2006/relationships/notesMaster" Target="/ppt/notesMasters/notesMaster1.xml" Id="R36a11c5cc5b2459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9cf406549a74c11" /><Relationship Type="http://schemas.openxmlformats.org/officeDocument/2006/relationships/notesMaster" Target="/ppt/notesMasters/notesMaster1.xml" Id="Rd6a46e82d1a44fd8"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8fb80cf0004e8d" /><Relationship Type="http://schemas.openxmlformats.org/officeDocument/2006/relationships/notesMaster" Target="/ppt/notesMasters/notesMaster1.xml" Id="Rbf46bc0750514750"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40849950fd47e7" /><Relationship Type="http://schemas.openxmlformats.org/officeDocument/2006/relationships/notesMaster" Target="/ppt/notesMasters/notesMaster1.xml" Id="R603fb593f9b6488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Twenty seconds. Forepaw predicts the visual result of possible actions before moving. It selects one action, executes it for half a second, then observes again. The cover image is an illustration,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Thirty seconds. The boxes share geometry but have distinct colors and physical behavior. The blue one-kilogram box moves under the robot. The red twenty-kilogram box resists the same command. Forepaw uses the visual cue to predict which action preserves progress. This is an appearance-to-behavior association, not hidden mass inference.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minutes. Switch to the live viewer. Ask the judge to choose a supported goal. Identify the three input frames, the 64 ranked candidates, and the selected first action. Pause on the saved plan before motion. Execute one half-second block, compare the next observation with the saved prediction, and show the next planning cycle. State which backend is running.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Sixty seconds. Three frames span one second. LeWM predicts 64 candidate sequences with six half-second blocks each, for 384 forecast blocks. The planner scores them, saves the selected forecast before motion, and executes only the first block. The next camera frame replaces the remaining plan. Runtime planning never receives simulator pose, contacts, mass, or an oracle future.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In the software rehearsal, the latent mismatch exceeded the threshold and latched a stop. The runtime issues zero motion and blocks new plans until reset. This is detection and stop, not online adaptation.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Separate software-contract evidence from task evidence. The dimOS wrapper and validation tests exist, but real dimOS deployment remains unverified. Passing fake-backend tests does not establish robot or task performance.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b5f3011f410431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2f13f8157684446" /><Relationship Type="http://schemas.openxmlformats.org/officeDocument/2006/relationships/slideLayout" Target="/ppt/slideLayouts/slideLayout1.xml" Id="Rda2c98379d4542e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a2c98379d4542e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a3115b610324a55" /><Relationship Type="http://schemas.openxmlformats.org/officeDocument/2006/relationships/image" Target="/ppt/media/image.png" Id="Rf672628909e941eb" /><Relationship Type="http://schemas.openxmlformats.org/officeDocument/2006/relationships/notesSlide" Target="/ppt/notesSlides/notesSlide1.xml" Id="R6dcbec4570e448a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9dc777dfda34abd" /><Relationship Type="http://schemas.openxmlformats.org/officeDocument/2006/relationships/image" Target="/ppt/media/image2.png" Id="R80fa18269eee4b2e" /><Relationship Type="http://schemas.openxmlformats.org/officeDocument/2006/relationships/image" Target="/ppt/media/image3.png" Id="R511040980f164ef3" /><Relationship Type="http://schemas.openxmlformats.org/officeDocument/2006/relationships/image" Target="/ppt/media/image4.png" Id="R05075fbc885146e2" /><Relationship Type="http://schemas.openxmlformats.org/officeDocument/2006/relationships/notesSlide" Target="/ppt/notesSlides/notesSlide2.xml" Id="Rb7f0a886d7cd42f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ceb2544ec42419e" /><Relationship Type="http://schemas.openxmlformats.org/officeDocument/2006/relationships/image" Target="/ppt/media/image.jpeg" Id="R81967e170ff64cb7" /><Relationship Type="http://schemas.openxmlformats.org/officeDocument/2006/relationships/notesSlide" Target="/ppt/notesSlides/notesSlide3.xml" Id="Rcd901361b4ee449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8c5220faa6a4906" /><Relationship Type="http://schemas.openxmlformats.org/officeDocument/2006/relationships/notesSlide" Target="/ppt/notesSlides/notesSlide4.xml" Id="R7f355a7f0bea4a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53f109f8d844047" /><Relationship Type="http://schemas.openxmlformats.org/officeDocument/2006/relationships/notesSlide" Target="/ppt/notesSlides/notesSlide5.xml" Id="Rc85a9629fb484e4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483d0236b2b4d49" /><Relationship Type="http://schemas.openxmlformats.org/officeDocument/2006/relationships/image" Target="/ppt/media/image2.jpeg" Id="Rb4dbcd476d6e4f5e" /><Relationship Type="http://schemas.openxmlformats.org/officeDocument/2006/relationships/notesSlide" Target="/ppt/notesSlides/notesSlide6.xml" Id="R9f6e1c35f9b04e0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5143bbf4c394c8c" /><Relationship Type="http://schemas.openxmlformats.org/officeDocument/2006/relationships/notesSlide" Target="/ppt/notesSlides/notesSlide7.xml" Id="R4a53834bf15c4c10" /></Relationships>
</file>

<file path=ppt/slides/slide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672628909e941e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3493DF7-CAC2-468A-B6FB-FC63FAFF7107}"/>
              </a:ext>
            </a:extLst>
          </p:cNvPr>
          <p:cNvSpPr>
            <a:spLocks xmlns:a="http://schemas.openxmlformats.org/drawingml/2006/main" noGrp="1"/>
          </p:cNvSpPr>
          <p:nvPr/>
        </p:nvSpPr>
        <p:spPr>
          <a:xfrm xmlns:a="http://schemas.openxmlformats.org/drawingml/2006/main">
            <a:off x="685800" y="838200"/>
            <a:ext cx="4476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6150" b="1">
                <a:solidFill>
                  <a:srgbClr val="151918"/>
                </a:solidFill>
                <a:latin typeface="Avenir Next"/>
                <a:ea typeface="Avenir Next"/>
                <a:cs typeface="Avenir Next"/>
              </a:defRPr>
            </a:pPr>
            <a:r>
              <a:rPr sz="6150" b="1">
                <a:solidFill>
                  <a:srgbClr val="151918"/>
                </a:solidFill>
                <a:latin typeface="Avenir Next"/>
                <a:ea typeface="Avenir Next"/>
                <a:cs typeface="Avenir Next"/>
              </a:rPr>
              <a:t>forepaw</a:t>
            </a:r>
          </a:p>
        </p:txBody>
      </p:sp>
      <p:sp>
        <p:nvSpPr>
          <p:cNvPr id="3" name="">
            <a:extLst xmlns:a="http://schemas.openxmlformats.org/drawingml/2006/main">
              <a:ext uri="{FF2B5EF4-FFF2-40B4-BE49-F238E27FC236}">
                <a16:creationId xmlns:a16="http://schemas.microsoft.com/office/drawing/2014/main" id="{14582043-8B2A-4207-8E0A-02B3E16C46A6}"/>
              </a:ext>
            </a:extLst>
          </p:cNvPr>
          <p:cNvSpPr>
            <a:spLocks xmlns:a="http://schemas.openxmlformats.org/drawingml/2006/main" noGrp="1"/>
          </p:cNvSpPr>
          <p:nvPr/>
        </p:nvSpPr>
        <p:spPr>
          <a:xfrm xmlns:a="http://schemas.openxmlformats.org/drawingml/2006/main">
            <a:off x="723900" y="2114550"/>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3000" b="1">
                <a:solidFill>
                  <a:srgbClr val="177A5A"/>
                </a:solidFill>
                <a:latin typeface="Avenir Next"/>
                <a:ea typeface="Avenir Next"/>
                <a:cs typeface="Avenir Next"/>
              </a:defRPr>
            </a:pPr>
            <a:r>
              <a:rPr sz="3000" b="1">
                <a:solidFill>
                  <a:srgbClr val="177A5A"/>
                </a:solidFill>
                <a:latin typeface="Avenir Next"/>
                <a:ea typeface="Avenir Next"/>
                <a:cs typeface="Avenir Next"/>
              </a:rPr>
              <a:t>Forecast six blocks.</a:t>
            </a:r>
          </a:p>
          <a:p xmlns:a="http://schemas.openxmlformats.org/drawingml/2006/main">
            <a:pPr algn="l">
              <a:buNone/>
              <a:defRPr sz="3000" b="1">
                <a:solidFill>
                  <a:srgbClr val="177A5A"/>
                </a:solidFill>
                <a:latin typeface="Avenir Next"/>
                <a:ea typeface="Avenir Next"/>
                <a:cs typeface="Avenir Next"/>
              </a:defRPr>
            </a:pPr>
            <a:r>
              <a:rPr sz="3000" b="1">
                <a:solidFill>
                  <a:srgbClr val="177A5A"/>
                </a:solidFill>
                <a:latin typeface="Avenir Next"/>
                <a:ea typeface="Avenir Next"/>
                <a:cs typeface="Avenir Next"/>
              </a:rPr>
              <a:t>Execute one.</a:t>
            </a:r>
          </a:p>
        </p:txBody>
      </p:sp>
      <p:sp>
        <p:nvSpPr>
          <p:cNvPr id="4" name="">
            <a:extLst xmlns:a="http://schemas.openxmlformats.org/drawingml/2006/main">
              <a:ext uri="{FF2B5EF4-FFF2-40B4-BE49-F238E27FC236}">
                <a16:creationId xmlns:a16="http://schemas.microsoft.com/office/drawing/2014/main" id="{42AC478D-7058-4594-8DF7-3BEC27D203F6}"/>
              </a:ext>
            </a:extLst>
          </p:cNvPr>
          <p:cNvSpPr>
            <a:spLocks xmlns:a="http://schemas.openxmlformats.org/drawingml/2006/main" noGrp="1"/>
          </p:cNvSpPr>
          <p:nvPr/>
        </p:nvSpPr>
        <p:spPr>
          <a:xfrm xmlns:a="http://schemas.openxmlformats.org/drawingml/2006/main">
            <a:off x="723900" y="3486150"/>
            <a:ext cx="2190750" cy="19050"/>
          </a:xfrm>
          <a:prstGeom xmlns:a="http://schemas.openxmlformats.org/drawingml/2006/main" prst="rect">
            <a:avLst/>
          </a:prstGeom>
          <a:solidFill xmlns:a="http://schemas.openxmlformats.org/drawingml/2006/main">
            <a:srgbClr val="15191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6A1302C-E19C-49FC-9C2B-AF8CD0E17724}"/>
              </a:ext>
            </a:extLst>
          </p:cNvPr>
          <p:cNvSpPr>
            <a:spLocks xmlns:a="http://schemas.openxmlformats.org/drawingml/2006/main" noGrp="1"/>
          </p:cNvSpPr>
          <p:nvPr/>
        </p:nvSpPr>
        <p:spPr>
          <a:xfrm xmlns:a="http://schemas.openxmlformats.org/drawingml/2006/main">
            <a:off x="723900" y="3733800"/>
            <a:ext cx="3905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725" b="0">
                <a:solidFill>
                  <a:srgbClr val="151918"/>
                </a:solidFill>
                <a:latin typeface="Avenir Next"/>
                <a:ea typeface="Avenir Next"/>
                <a:cs typeface="Avenir Next"/>
              </a:defRPr>
            </a:pPr>
            <a:r>
              <a:rPr sz="1725" b="0">
                <a:solidFill>
                  <a:srgbClr val="151918"/>
                </a:solidFill>
                <a:latin typeface="Avenir Next"/>
                <a:ea typeface="Avenir Next"/>
                <a:cs typeface="Avenir Next"/>
              </a:rPr>
              <a:t>Reusable dimOS skills for a simulated Unitree Go2</a:t>
            </a:r>
          </a:p>
        </p:txBody>
      </p:sp>
      <p:sp>
        <p:nvSpPr>
          <p:cNvPr id="6" name="">
            <a:extLst xmlns:a="http://schemas.openxmlformats.org/drawingml/2006/main">
              <a:ext uri="{FF2B5EF4-FFF2-40B4-BE49-F238E27FC236}">
                <a16:creationId xmlns:a16="http://schemas.microsoft.com/office/drawing/2014/main" id="{9979F60C-1D1B-460F-BB45-A41F1E71CC96}"/>
              </a:ext>
            </a:extLst>
          </p:cNvPr>
          <p:cNvSpPr>
            <a:spLocks xmlns:a="http://schemas.openxmlformats.org/drawingml/2006/main" noGrp="1"/>
          </p:cNvSpPr>
          <p:nvPr/>
        </p:nvSpPr>
        <p:spPr>
          <a:xfrm xmlns:a="http://schemas.openxmlformats.org/drawingml/2006/main">
            <a:off x="723900" y="615315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1">
                <a:solidFill>
                  <a:srgbClr val="616A67"/>
                </a:solidFill>
                <a:latin typeface="Avenir Next"/>
                <a:ea typeface="Avenir Next"/>
                <a:cs typeface="Avenir Next"/>
              </a:defRPr>
            </a:pPr>
            <a:r>
              <a:rPr sz="1125" b="1">
                <a:solidFill>
                  <a:srgbClr val="616A67"/>
                </a:solidFill>
                <a:latin typeface="Avenir Next"/>
                <a:ea typeface="Avenir Next"/>
                <a:cs typeface="Avenir Next"/>
              </a:rPr>
              <a:t>KELLY YANG  ·  HACKMIT 2026</a:t>
            </a:r>
          </a:p>
        </p:txBody>
      </p:sp>
    </p:spTree>
    <p:extLst>
      <p:ext uri="{BB962C8B-B14F-4D97-AF65-F5344CB8AC3E}">
        <p14:creationId xmlns:p14="http://schemas.microsoft.com/office/powerpoint/2010/main" val="1282043164"/>
      </p:ext>
    </p:extLst>
  </p:cSld>
</p:sld>
</file>

<file path=ppt/slides/slide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9727E58-6960-4ABD-AC10-A9C760AD04F7}"/>
              </a:ext>
            </a:extLst>
          </p:cNvPr>
          <p:cNvSpPr>
            <a:spLocks xmlns:a="http://schemas.openxmlformats.org/drawingml/2006/main" noGrp="1"/>
          </p:cNvSpPr>
          <p:nvPr/>
        </p:nvSpPr>
        <p:spPr>
          <a:xfrm xmlns:a="http://schemas.openxmlformats.org/drawingml/2006/main">
            <a:off x="609600" y="400050"/>
            <a:ext cx="1000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3225" b="1">
                <a:solidFill>
                  <a:srgbClr val="151918"/>
                </a:solidFill>
                <a:latin typeface="Avenir Next"/>
                <a:ea typeface="Avenir Next"/>
                <a:cs typeface="Avenir Next"/>
              </a:defRPr>
            </a:pPr>
            <a:r>
              <a:rPr sz="3225" b="1">
                <a:solidFill>
                  <a:srgbClr val="151918"/>
                </a:solidFill>
                <a:latin typeface="Avenir Next"/>
                <a:ea typeface="Avenir Next"/>
                <a:cs typeface="Avenir Next"/>
              </a:rPr>
              <a:t>Push it — or plan around it.</a:t>
            </a:r>
          </a:p>
        </p:txBody>
      </p:sp>
      <p:sp>
        <p:nvSpPr>
          <p:cNvPr id="2" name="">
            <a:extLst xmlns:a="http://schemas.openxmlformats.org/drawingml/2006/main">
              <a:ext uri="{FF2B5EF4-FFF2-40B4-BE49-F238E27FC236}">
                <a16:creationId xmlns:a16="http://schemas.microsoft.com/office/drawing/2014/main" id="{BED734B1-8FED-4BAB-8592-651864F00950}"/>
              </a:ext>
            </a:extLst>
          </p:cNvPr>
          <p:cNvSpPr>
            <a:spLocks xmlns:a="http://schemas.openxmlformats.org/drawingml/2006/main" noGrp="1"/>
          </p:cNvSpPr>
          <p:nvPr/>
        </p:nvSpPr>
        <p:spPr>
          <a:xfrm xmlns:a="http://schemas.openxmlformats.org/drawingml/2006/main">
            <a:off x="11087100" y="5238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1050" b="0">
                <a:solidFill>
                  <a:srgbClr val="8C9491"/>
                </a:solidFill>
                <a:latin typeface="Menlo"/>
                <a:ea typeface="Menlo"/>
                <a:cs typeface="Menlo"/>
              </a:defRPr>
            </a:pPr>
            <a:r>
              <a:rPr sz="1050" b="0">
                <a:solidFill>
                  <a:srgbClr val="8C9491"/>
                </a:solidFill>
                <a:latin typeface="Menlo"/>
                <a:ea typeface="Menlo"/>
                <a:cs typeface="Menlo"/>
              </a:rPr>
              <a:t>02</a:t>
            </a:r>
          </a:p>
        </p:txBody>
      </p:sp>
      <p:sp>
        <p:nvSpPr>
          <p:cNvPr id="3" name="">
            <a:extLst xmlns:a="http://schemas.openxmlformats.org/drawingml/2006/main">
              <a:ext uri="{FF2B5EF4-FFF2-40B4-BE49-F238E27FC236}">
                <a16:creationId xmlns:a16="http://schemas.microsoft.com/office/drawing/2014/main" id="{82E21DB6-871F-48B1-BB4B-29DE358603CD}"/>
              </a:ext>
            </a:extLst>
          </p:cNvPr>
          <p:cNvSpPr>
            <a:spLocks xmlns:a="http://schemas.openxmlformats.org/drawingml/2006/main" noGrp="1"/>
          </p:cNvSpPr>
          <p:nvPr/>
        </p:nvSpPr>
        <p:spPr>
          <a:xfrm xmlns:a="http://schemas.openxmlformats.org/drawingml/2006/main">
            <a:off x="609600" y="1104900"/>
            <a:ext cx="10972800" cy="9525"/>
          </a:xfrm>
          <a:prstGeom xmlns:a="http://schemas.openxmlformats.org/drawingml/2006/main" prst="rect">
            <a:avLst/>
          </a:prstGeom>
          <a:solidFill xmlns:a="http://schemas.openxmlformats.org/drawingml/2006/main">
            <a:srgbClr val="D9DD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5ACC603-7DDF-490A-8632-1D81F6B78AB0}"/>
              </a:ext>
            </a:extLst>
          </p:cNvPr>
          <p:cNvSpPr>
            <a:spLocks xmlns:a="http://schemas.openxmlformats.org/drawingml/2006/main" noGrp="1"/>
          </p:cNvSpPr>
          <p:nvPr/>
        </p:nvSpPr>
        <p:spPr>
          <a:xfrm xmlns:a="http://schemas.openxmlformats.org/drawingml/2006/main">
            <a:off x="609600" y="1381125"/>
            <a:ext cx="923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725" b="0">
                <a:solidFill>
                  <a:srgbClr val="616A67"/>
                </a:solidFill>
                <a:latin typeface="Avenir Next"/>
                <a:ea typeface="Avenir Next"/>
                <a:cs typeface="Avenir Next"/>
              </a:defRPr>
            </a:pPr>
            <a:r>
              <a:rPr sz="1725" b="0">
                <a:solidFill>
                  <a:srgbClr val="616A67"/>
                </a:solidFill>
                <a:latin typeface="Avenir Next"/>
                <a:ea typeface="Avenir Next"/>
                <a:cs typeface="Avenir Next"/>
              </a:rPr>
              <a:t>One goal, two outcomes: push the movable blue box or detour around the resistant red box.</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80fa18269eee4b2e"/>
          <a:stretch xmlns:a="http://schemas.openxmlformats.org/drawingml/2006/main"/>
        </p:blipFill>
        <p:spPr>
          <a:xfrm xmlns:a="http://schemas.openxmlformats.org/drawingml/2006/main">
            <a:off x="685800" y="2019300"/>
            <a:ext cx="3390900" cy="3390900"/>
          </a:xfrm>
          <a:prstGeom xmlns:a="http://schemas.openxmlformats.org/drawingml/2006/main" prst="roundRect">
            <a:avLst>
              <a:gd name="adj" fmla="val 3371"/>
            </a:avLst>
          </a:prstGeom>
        </p:spPr>
      </p:pic>
      <p:sp>
        <p:nvSpPr>
          <p:cNvPr id="6" name="">
            <a:extLst xmlns:a="http://schemas.openxmlformats.org/drawingml/2006/main">
              <a:ext uri="{FF2B5EF4-FFF2-40B4-BE49-F238E27FC236}">
                <a16:creationId xmlns:a16="http://schemas.microsoft.com/office/drawing/2014/main" id="{554548AA-B9A2-4DBD-9AE6-C354ABAC4AF3}"/>
              </a:ext>
            </a:extLst>
          </p:cNvPr>
          <p:cNvSpPr>
            <a:spLocks xmlns:a="http://schemas.openxmlformats.org/drawingml/2006/main" noGrp="1"/>
          </p:cNvSpPr>
          <p:nvPr/>
        </p:nvSpPr>
        <p:spPr>
          <a:xfrm xmlns:a="http://schemas.openxmlformats.org/drawingml/2006/main">
            <a:off x="685800" y="5600700"/>
            <a:ext cx="1524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050" b="1">
                <a:solidFill>
                  <a:srgbClr val="8C9491"/>
                </a:solidFill>
                <a:latin typeface="Avenir Next"/>
                <a:ea typeface="Avenir Next"/>
                <a:cs typeface="Avenir Next"/>
              </a:defRPr>
            </a:pPr>
            <a:r>
              <a:rPr sz="1050" b="1">
                <a:solidFill>
                  <a:srgbClr val="8C9491"/>
                </a:solidFill>
                <a:latin typeface="Avenir Next"/>
                <a:ea typeface="Avenir Next"/>
                <a:cs typeface="Avenir Next"/>
              </a:rPr>
              <a:t>TASK</a:t>
            </a:r>
          </a:p>
        </p:txBody>
      </p:sp>
      <p:sp>
        <p:nvSpPr>
          <p:cNvPr id="7" name="">
            <a:extLst xmlns:a="http://schemas.openxmlformats.org/drawingml/2006/main">
              <a:ext uri="{FF2B5EF4-FFF2-40B4-BE49-F238E27FC236}">
                <a16:creationId xmlns:a16="http://schemas.microsoft.com/office/drawing/2014/main" id="{63A8E5DC-D25E-46F8-B35F-13626CEE9669}"/>
              </a:ext>
            </a:extLst>
          </p:cNvPr>
          <p:cNvSpPr>
            <a:spLocks xmlns:a="http://schemas.openxmlformats.org/drawingml/2006/main" noGrp="1"/>
          </p:cNvSpPr>
          <p:nvPr/>
        </p:nvSpPr>
        <p:spPr>
          <a:xfrm xmlns:a="http://schemas.openxmlformats.org/drawingml/2006/main">
            <a:off x="685800" y="5876925"/>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00" b="0">
                <a:solidFill>
                  <a:srgbClr val="151918"/>
                </a:solidFill>
                <a:latin typeface="Menlo"/>
                <a:ea typeface="Menlo"/>
                <a:cs typeface="Menlo"/>
              </a:defRPr>
            </a:pPr>
            <a:r>
              <a:rPr sz="1500" b="0">
                <a:solidFill>
                  <a:srgbClr val="151918"/>
                </a:solidFill>
                <a:latin typeface="Menlo"/>
                <a:ea typeface="Menlo"/>
                <a:cs typeface="Menlo"/>
              </a:rPr>
              <a:t>Goal + scene</a:t>
            </a:r>
          </a:p>
        </p:txBody>
      </p:sp>
      <p:sp>
        <p:nvSpPr>
          <p:cNvPr id="8" name="">
            <a:extLst xmlns:a="http://schemas.openxmlformats.org/drawingml/2006/main">
              <a:ext uri="{FF2B5EF4-FFF2-40B4-BE49-F238E27FC236}">
                <a16:creationId xmlns:a16="http://schemas.microsoft.com/office/drawing/2014/main" id="{E746D3BB-751E-46A2-8762-B3E05FD6E259}"/>
              </a:ext>
            </a:extLst>
          </p:cNvPr>
          <p:cNvSpPr>
            <a:spLocks xmlns:a="http://schemas.openxmlformats.org/drawingml/2006/main" noGrp="1"/>
          </p:cNvSpPr>
          <p:nvPr/>
        </p:nvSpPr>
        <p:spPr>
          <a:xfrm xmlns:a="http://schemas.openxmlformats.org/drawingml/2006/main">
            <a:off x="4686300" y="2000250"/>
            <a:ext cx="28575" cy="3676650"/>
          </a:xfrm>
          <a:prstGeom xmlns:a="http://schemas.openxmlformats.org/drawingml/2006/main" prst="rect">
            <a:avLst/>
          </a:prstGeom>
          <a:solidFill xmlns:a="http://schemas.openxmlformats.org/drawingml/2006/main">
            <a:srgbClr val="D9DDD8"/>
          </a:solidFill>
          <a:ln xmlns:a="http://schemas.openxmlformats.org/drawingml/2006/main" w="0">
            <a:noFill/>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511040980f164ef3"/>
          <a:stretch xmlns:a="http://schemas.openxmlformats.org/drawingml/2006/main"/>
        </p:blipFill>
        <p:spPr>
          <a:xfrm xmlns:a="http://schemas.openxmlformats.org/drawingml/2006/main">
            <a:off x="5238750" y="2019300"/>
            <a:ext cx="2438400" cy="2438400"/>
          </a:xfrm>
          <a:prstGeom xmlns:a="http://schemas.openxmlformats.org/drawingml/2006/main" prst="roundRect">
            <a:avLst>
              <a:gd name="adj" fmla="val 4688"/>
            </a:avLst>
          </a:prstGeom>
        </p:spPr>
      </p:pic>
      <p:sp>
        <p:nvSpPr>
          <p:cNvPr id="10" name="">
            <a:extLst xmlns:a="http://schemas.openxmlformats.org/drawingml/2006/main">
              <a:ext uri="{FF2B5EF4-FFF2-40B4-BE49-F238E27FC236}">
                <a16:creationId xmlns:a16="http://schemas.microsoft.com/office/drawing/2014/main" id="{999BC356-D593-4798-BFA5-08439E9249C7}"/>
              </a:ext>
            </a:extLst>
          </p:cNvPr>
          <p:cNvSpPr>
            <a:spLocks xmlns:a="http://schemas.openxmlformats.org/drawingml/2006/main" noGrp="1"/>
          </p:cNvSpPr>
          <p:nvPr/>
        </p:nvSpPr>
        <p:spPr>
          <a:xfrm xmlns:a="http://schemas.openxmlformats.org/drawingml/2006/main">
            <a:off x="5238750" y="4686300"/>
            <a:ext cx="2438400" cy="38100"/>
          </a:xfrm>
          <a:prstGeom xmlns:a="http://schemas.openxmlformats.org/drawingml/2006/main" prst="rect">
            <a:avLst/>
          </a:prstGeom>
          <a:solidFill xmlns:a="http://schemas.openxmlformats.org/drawingml/2006/main">
            <a:srgbClr val="3E82F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C036FC9-7D82-423A-BA37-F0FEF255E53E}"/>
              </a:ext>
            </a:extLst>
          </p:cNvPr>
          <p:cNvSpPr>
            <a:spLocks xmlns:a="http://schemas.openxmlformats.org/drawingml/2006/main" noGrp="1"/>
          </p:cNvSpPr>
          <p:nvPr/>
        </p:nvSpPr>
        <p:spPr>
          <a:xfrm xmlns:a="http://schemas.openxmlformats.org/drawingml/2006/main">
            <a:off x="5238750" y="4914900"/>
            <a:ext cx="2438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1">
                <a:solidFill>
                  <a:srgbClr val="3E82F7"/>
                </a:solidFill>
                <a:latin typeface="Avenir Next"/>
                <a:ea typeface="Avenir Next"/>
                <a:cs typeface="Avenir Next"/>
              </a:defRPr>
            </a:pPr>
            <a:r>
              <a:rPr sz="1125" b="1">
                <a:solidFill>
                  <a:srgbClr val="3E82F7"/>
                </a:solidFill>
                <a:latin typeface="Avenir Next"/>
                <a:ea typeface="Avenir Next"/>
                <a:cs typeface="Avenir Next"/>
              </a:rPr>
              <a:t>BLUE  ·  1 KG</a:t>
            </a:r>
          </a:p>
        </p:txBody>
      </p:sp>
      <p:sp>
        <p:nvSpPr>
          <p:cNvPr id="12" name="">
            <a:extLst xmlns:a="http://schemas.openxmlformats.org/drawingml/2006/main">
              <a:ext uri="{FF2B5EF4-FFF2-40B4-BE49-F238E27FC236}">
                <a16:creationId xmlns:a16="http://schemas.microsoft.com/office/drawing/2014/main" id="{C8240F9F-0F0A-43D7-B5A0-EEB34B08520A}"/>
              </a:ext>
            </a:extLst>
          </p:cNvPr>
          <p:cNvSpPr>
            <a:spLocks xmlns:a="http://schemas.openxmlformats.org/drawingml/2006/main" noGrp="1"/>
          </p:cNvSpPr>
          <p:nvPr/>
        </p:nvSpPr>
        <p:spPr>
          <a:xfrm xmlns:a="http://schemas.openxmlformats.org/drawingml/2006/main">
            <a:off x="5238750" y="5276850"/>
            <a:ext cx="2438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250" b="1">
                <a:solidFill>
                  <a:srgbClr val="151918"/>
                </a:solidFill>
                <a:latin typeface="Avenir Next"/>
                <a:ea typeface="Avenir Next"/>
                <a:cs typeface="Avenir Next"/>
              </a:defRPr>
            </a:pPr>
            <a:r>
              <a:rPr sz="2250" b="1">
                <a:solidFill>
                  <a:srgbClr val="151918"/>
                </a:solidFill>
                <a:latin typeface="Avenir Next"/>
                <a:ea typeface="Avenir Next"/>
                <a:cs typeface="Avenir Next"/>
              </a:rPr>
              <a:t>PUSH</a:t>
            </a:r>
          </a:p>
        </p:txBody>
      </p:sp>
      <p:sp>
        <p:nvSpPr>
          <p:cNvPr id="13" name="">
            <a:extLst xmlns:a="http://schemas.openxmlformats.org/drawingml/2006/main">
              <a:ext uri="{FF2B5EF4-FFF2-40B4-BE49-F238E27FC236}">
                <a16:creationId xmlns:a16="http://schemas.microsoft.com/office/drawing/2014/main" id="{6B79249C-DFD4-4DFE-95D5-35AF63552177}"/>
              </a:ext>
            </a:extLst>
          </p:cNvPr>
          <p:cNvSpPr>
            <a:spLocks xmlns:a="http://schemas.openxmlformats.org/drawingml/2006/main" noGrp="1"/>
          </p:cNvSpPr>
          <p:nvPr/>
        </p:nvSpPr>
        <p:spPr>
          <a:xfrm xmlns:a="http://schemas.openxmlformats.org/drawingml/2006/main">
            <a:off x="5238750" y="571500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425" b="0">
                <a:solidFill>
                  <a:srgbClr val="616A67"/>
                </a:solidFill>
                <a:latin typeface="Avenir Next"/>
                <a:ea typeface="Avenir Next"/>
                <a:cs typeface="Avenir Next"/>
              </a:defRPr>
            </a:pPr>
            <a:r>
              <a:rPr sz="1425" b="0">
                <a:solidFill>
                  <a:srgbClr val="616A67"/>
                </a:solidFill>
                <a:latin typeface="Avenir Next"/>
                <a:ea typeface="Avenir Next"/>
                <a:cs typeface="Avenir Next"/>
              </a:rPr>
              <a:t>The box clears the route</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05075fbc885146e2"/>
          <a:stretch xmlns:a="http://schemas.openxmlformats.org/drawingml/2006/main"/>
        </p:blipFill>
        <p:spPr>
          <a:xfrm xmlns:a="http://schemas.openxmlformats.org/drawingml/2006/main">
            <a:off x="8572500" y="2019300"/>
            <a:ext cx="2438400" cy="2438400"/>
          </a:xfrm>
          <a:prstGeom xmlns:a="http://schemas.openxmlformats.org/drawingml/2006/main" prst="roundRect">
            <a:avLst>
              <a:gd name="adj" fmla="val 4688"/>
            </a:avLst>
          </a:prstGeom>
        </p:spPr>
      </p:pic>
      <p:sp>
        <p:nvSpPr>
          <p:cNvPr id="15" name="">
            <a:extLst xmlns:a="http://schemas.openxmlformats.org/drawingml/2006/main">
              <a:ext uri="{FF2B5EF4-FFF2-40B4-BE49-F238E27FC236}">
                <a16:creationId xmlns:a16="http://schemas.microsoft.com/office/drawing/2014/main" id="{04838B52-2A68-40C6-914C-0CF943CA66AE}"/>
              </a:ext>
            </a:extLst>
          </p:cNvPr>
          <p:cNvSpPr>
            <a:spLocks xmlns:a="http://schemas.openxmlformats.org/drawingml/2006/main" noGrp="1"/>
          </p:cNvSpPr>
          <p:nvPr/>
        </p:nvSpPr>
        <p:spPr>
          <a:xfrm xmlns:a="http://schemas.openxmlformats.org/drawingml/2006/main">
            <a:off x="8572500" y="4686300"/>
            <a:ext cx="2438400" cy="38100"/>
          </a:xfrm>
          <a:prstGeom xmlns:a="http://schemas.openxmlformats.org/drawingml/2006/main" prst="rect">
            <a:avLst/>
          </a:prstGeom>
          <a:solidFill xmlns:a="http://schemas.openxmlformats.org/drawingml/2006/main">
            <a:srgbClr val="E45B5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D24BF4F-9865-4996-ADC4-C2245034F731}"/>
              </a:ext>
            </a:extLst>
          </p:cNvPr>
          <p:cNvSpPr>
            <a:spLocks xmlns:a="http://schemas.openxmlformats.org/drawingml/2006/main" noGrp="1"/>
          </p:cNvSpPr>
          <p:nvPr/>
        </p:nvSpPr>
        <p:spPr>
          <a:xfrm xmlns:a="http://schemas.openxmlformats.org/drawingml/2006/main">
            <a:off x="8572500" y="4914900"/>
            <a:ext cx="24384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125" b="1">
                <a:solidFill>
                  <a:srgbClr val="E45B55"/>
                </a:solidFill>
                <a:latin typeface="Avenir Next"/>
                <a:ea typeface="Avenir Next"/>
                <a:cs typeface="Avenir Next"/>
              </a:defRPr>
            </a:pPr>
            <a:r>
              <a:rPr sz="1125" b="1">
                <a:solidFill>
                  <a:srgbClr val="E45B55"/>
                </a:solidFill>
                <a:latin typeface="Avenir Next"/>
                <a:ea typeface="Avenir Next"/>
                <a:cs typeface="Avenir Next"/>
              </a:rPr>
              <a:t>RED  ·  FIXED</a:t>
            </a:r>
          </a:p>
        </p:txBody>
      </p:sp>
      <p:sp>
        <p:nvSpPr>
          <p:cNvPr id="17" name="">
            <a:extLst xmlns:a="http://schemas.openxmlformats.org/drawingml/2006/main">
              <a:ext uri="{FF2B5EF4-FFF2-40B4-BE49-F238E27FC236}">
                <a16:creationId xmlns:a16="http://schemas.microsoft.com/office/drawing/2014/main" id="{E06AAB6D-D086-4C64-827F-0A5ED0459333}"/>
              </a:ext>
            </a:extLst>
          </p:cNvPr>
          <p:cNvSpPr>
            <a:spLocks xmlns:a="http://schemas.openxmlformats.org/drawingml/2006/main" noGrp="1"/>
          </p:cNvSpPr>
          <p:nvPr/>
        </p:nvSpPr>
        <p:spPr>
          <a:xfrm xmlns:a="http://schemas.openxmlformats.org/drawingml/2006/main">
            <a:off x="8572500" y="5276850"/>
            <a:ext cx="2438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250" b="1">
                <a:solidFill>
                  <a:srgbClr val="151918"/>
                </a:solidFill>
                <a:latin typeface="Avenir Next"/>
                <a:ea typeface="Avenir Next"/>
                <a:cs typeface="Avenir Next"/>
              </a:defRPr>
            </a:pPr>
            <a:r>
              <a:rPr sz="2250" b="1">
                <a:solidFill>
                  <a:srgbClr val="151918"/>
                </a:solidFill>
                <a:latin typeface="Avenir Next"/>
                <a:ea typeface="Avenir Next"/>
                <a:cs typeface="Avenir Next"/>
              </a:rPr>
              <a:t>DETOUR</a:t>
            </a:r>
          </a:p>
        </p:txBody>
      </p:sp>
      <p:sp>
        <p:nvSpPr>
          <p:cNvPr id="18" name="">
            <a:extLst xmlns:a="http://schemas.openxmlformats.org/drawingml/2006/main">
              <a:ext uri="{FF2B5EF4-FFF2-40B4-BE49-F238E27FC236}">
                <a16:creationId xmlns:a16="http://schemas.microsoft.com/office/drawing/2014/main" id="{3F424BD7-5919-4304-BEBF-8B1089FB9C07}"/>
              </a:ext>
            </a:extLst>
          </p:cNvPr>
          <p:cNvSpPr>
            <a:spLocks xmlns:a="http://schemas.openxmlformats.org/drawingml/2006/main" noGrp="1"/>
          </p:cNvSpPr>
          <p:nvPr/>
        </p:nvSpPr>
        <p:spPr>
          <a:xfrm xmlns:a="http://schemas.openxmlformats.org/drawingml/2006/main">
            <a:off x="8572500" y="57150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425" b="0">
                <a:solidFill>
                  <a:srgbClr val="616A67"/>
                </a:solidFill>
                <a:latin typeface="Avenir Next"/>
                <a:ea typeface="Avenir Next"/>
                <a:cs typeface="Avenir Next"/>
              </a:defRPr>
            </a:pPr>
            <a:r>
              <a:rPr sz="1425" b="0">
                <a:solidFill>
                  <a:srgbClr val="616A67"/>
                </a:solidFill>
                <a:latin typeface="Avenir Next"/>
                <a:ea typeface="Avenir Next"/>
                <a:cs typeface="Avenir Next"/>
              </a:rPr>
              <a:t>The box resists the push</a:t>
            </a:r>
          </a:p>
        </p:txBody>
      </p:sp>
    </p:spTree>
    <p:extLst>
      <p:ext uri="{BB962C8B-B14F-4D97-AF65-F5344CB8AC3E}">
        <p14:creationId xmlns:p14="http://schemas.microsoft.com/office/powerpoint/2010/main" val="77515928"/>
      </p:ext>
    </p:extLst>
  </p:cSld>
</p:sld>
</file>

<file path=ppt/slides/slide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409F493-6EF9-4F37-B73E-4C12AFADA101}"/>
              </a:ext>
            </a:extLst>
          </p:cNvPr>
          <p:cNvSpPr>
            <a:spLocks xmlns:a="http://schemas.openxmlformats.org/drawingml/2006/main" noGrp="1"/>
          </p:cNvSpPr>
          <p:nvPr/>
        </p:nvSpPr>
        <p:spPr>
          <a:xfrm xmlns:a="http://schemas.openxmlformats.org/drawingml/2006/main">
            <a:off x="514350" y="285750"/>
            <a:ext cx="266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3450" b="1">
                <a:solidFill>
                  <a:srgbClr val="151918"/>
                </a:solidFill>
                <a:latin typeface="Avenir Next"/>
                <a:ea typeface="Avenir Next"/>
                <a:cs typeface="Avenir Next"/>
              </a:defRPr>
            </a:pPr>
            <a:r>
              <a:rPr sz="3450" b="1">
                <a:solidFill>
                  <a:srgbClr val="151918"/>
                </a:solidFill>
                <a:latin typeface="Avenir Next"/>
                <a:ea typeface="Avenir Next"/>
                <a:cs typeface="Avenir Next"/>
              </a:rPr>
              <a:t>dimOS-native control</a:t>
            </a:r>
          </a:p>
        </p:txBody>
      </p:sp>
      <p:sp>
        <p:nvSpPr>
          <p:cNvPr id="2" name="">
            <a:extLst xmlns:a="http://schemas.openxmlformats.org/drawingml/2006/main">
              <a:ext uri="{FF2B5EF4-FFF2-40B4-BE49-F238E27FC236}">
                <a16:creationId xmlns:a16="http://schemas.microsoft.com/office/drawing/2014/main" id="{A788F199-5CF3-44BE-BCE0-B56D38996131}"/>
              </a:ext>
            </a:extLst>
          </p:cNvPr>
          <p:cNvSpPr>
            <a:spLocks xmlns:a="http://schemas.openxmlformats.org/drawingml/2006/main" noGrp="1"/>
          </p:cNvSpPr>
          <p:nvPr/>
        </p:nvSpPr>
        <p:spPr>
          <a:xfrm xmlns:a="http://schemas.openxmlformats.org/drawingml/2006/main">
            <a:off x="7429500" y="38100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1800" b="1">
                <a:solidFill>
                  <a:srgbClr val="177A5A"/>
                </a:solidFill>
                <a:latin typeface="Avenir Next"/>
                <a:ea typeface="Avenir Next"/>
                <a:cs typeface="Avenir Next"/>
              </a:defRPr>
            </a:pPr>
            <a:r>
              <a:rPr sz="1800" b="1">
                <a:solidFill>
                  <a:srgbClr val="177A5A"/>
                </a:solidFill>
                <a:latin typeface="Avenir Next"/>
                <a:ea typeface="Avenir Next"/>
                <a:cs typeface="Avenir Next"/>
              </a:rPr>
              <a:t>Reusable skill boundary</a:t>
            </a:r>
          </a:p>
        </p:txBody>
      </p:sp>
      <p:sp>
        <p:nvSpPr>
          <p:cNvPr id="3" name="">
            <a:extLst xmlns:a="http://schemas.openxmlformats.org/drawingml/2006/main">
              <a:ext uri="{FF2B5EF4-FFF2-40B4-BE49-F238E27FC236}">
                <a16:creationId xmlns:a16="http://schemas.microsoft.com/office/drawing/2014/main" id="{4B4265D0-43D6-4F5F-BE38-68F5C9DA66A3}"/>
              </a:ext>
            </a:extLst>
          </p:cNvPr>
          <p:cNvSpPr>
            <a:spLocks xmlns:a="http://schemas.openxmlformats.org/drawingml/2006/main" noGrp="1"/>
          </p:cNvSpPr>
          <p:nvPr/>
        </p:nvSpPr>
        <p:spPr>
          <a:xfrm xmlns:a="http://schemas.openxmlformats.org/drawingml/2006/main">
            <a:off x="514350" y="990600"/>
            <a:ext cx="11144250" cy="9525"/>
          </a:xfrm>
          <a:prstGeom xmlns:a="http://schemas.openxmlformats.org/drawingml/2006/main" prst="rect">
            <a:avLst/>
          </a:prstGeom>
          <a:solidFill xmlns:a="http://schemas.openxmlformats.org/drawingml/2006/main">
            <a:srgbClr val="D9DDD8"/>
          </a:solidFill>
          <a:ln xmlns:a="http://schemas.openxmlformats.org/drawingml/2006/main" w="0">
            <a:noFill/>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81967e170ff64cb7"/>
          <a:stretch xmlns:a="http://schemas.openxmlformats.org/drawingml/2006/main"/>
        </p:blipFill>
        <p:spPr>
          <a:xfrm xmlns:a="http://schemas.openxmlformats.org/drawingml/2006/main">
            <a:off x="1257300" y="1202531"/>
            <a:ext cx="9677400" cy="5443538"/>
          </a:xfrm>
          <a:prstGeom xmlns:a="http://schemas.openxmlformats.org/drawingml/2006/main" prst="roundRect">
            <a:avLst>
              <a:gd name="adj" fmla="val 2098"/>
            </a:avLst>
          </a:prstGeom>
        </p:spPr>
      </p:pic>
      <p:sp>
        <p:nvSpPr>
          <p:cNvPr id="7" name="">
            <a:extLst xmlns:a="http://schemas.openxmlformats.org/drawingml/2006/main">
              <a:ext uri="{FF2B5EF4-FFF2-40B4-BE49-F238E27FC236}">
                <a16:creationId xmlns:a16="http://schemas.microsoft.com/office/drawing/2014/main" id="{C421DB33-42CE-4724-94ED-2FEC4C92D645}"/>
              </a:ext>
            </a:extLst>
          </p:cNvPr>
          <p:cNvSpPr>
            <a:spLocks xmlns:a="http://schemas.openxmlformats.org/drawingml/2006/main" noGrp="1"/>
          </p:cNvSpPr>
          <p:nvPr/>
        </p:nvSpPr>
        <p:spPr>
          <a:xfrm xmlns:a="http://schemas.openxmlformats.org/drawingml/2006/main">
            <a:off x="800100" y="1181100"/>
            <a:ext cx="10591800" cy="5334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A57F6DA-478F-4BC4-BF05-8F14B474F338}"/>
              </a:ext>
            </a:extLst>
          </p:cNvPr>
          <p:cNvSpPr>
            <a:spLocks xmlns:a="http://schemas.openxmlformats.org/drawingml/2006/main" noGrp="1"/>
          </p:cNvSpPr>
          <p:nvPr/>
        </p:nvSpPr>
        <p:spPr>
          <a:xfrm xmlns:a="http://schemas.openxmlformats.org/drawingml/2006/main">
            <a:off x="1066800" y="2286000"/>
            <a:ext cx="2038350" cy="2133600"/>
          </a:xfrm>
          <a:prstGeom xmlns:a="http://schemas.openxmlformats.org/drawingml/2006/main" prst="roundRect">
            <a:avLst>
              <a:gd name="adj" fmla="val 3738"/>
            </a:avLst>
          </a:prstGeom>
          <a:solidFill xmlns:a="http://schemas.openxmlformats.org/drawingml/2006/main">
            <a:srgbClr val="DDF3F4"/>
          </a:solidFill>
          <a:ln xmlns:a="http://schemas.openxmlformats.org/drawingml/2006/main" w="14288">
            <a:solidFill>
              <a:srgbClr val="2D7F86"/>
            </a:solidFill>
            <a:prstDash val="solid"/>
          </a:ln>
        </p:spPr>
      </p:sp>
      <p:sp>
        <p:nvSpPr>
          <p:cNvPr id="9" name="">
            <a:extLst xmlns:a="http://schemas.openxmlformats.org/drawingml/2006/main">
              <a:ext uri="{FF2B5EF4-FFF2-40B4-BE49-F238E27FC236}">
                <a16:creationId xmlns:a16="http://schemas.microsoft.com/office/drawing/2014/main" id="{36BA89CD-298A-4A0F-A186-690FAFF4369A}"/>
              </a:ext>
            </a:extLst>
          </p:cNvPr>
          <p:cNvSpPr>
            <a:spLocks xmlns:a="http://schemas.openxmlformats.org/drawingml/2006/main" noGrp="1"/>
          </p:cNvSpPr>
          <p:nvPr/>
        </p:nvSpPr>
        <p:spPr>
          <a:xfrm xmlns:a="http://schemas.openxmlformats.org/drawingml/2006/main">
            <a:off x="1238250" y="2457450"/>
            <a:ext cx="1695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2D7F86"/>
                </a:solidFill>
                <a:latin typeface="Avenir Next"/>
                <a:ea typeface="Avenir Next"/>
                <a:cs typeface="Avenir Next"/>
              </a:defRPr>
            </a:pPr>
            <a:r>
              <a:rPr sz="1800" b="1">
                <a:solidFill>
                  <a:srgbClr val="2D7F86"/>
                </a:solidFill>
                <a:latin typeface="Avenir Next"/>
                <a:ea typeface="Avenir Next"/>
                <a:cs typeface="Avenir Next"/>
              </a:rPr>
              <a:t>dimOS</a:t>
            </a:r>
          </a:p>
        </p:txBody>
      </p:sp>
      <p:sp>
        <p:nvSpPr>
          <p:cNvPr id="10" name="">
            <a:extLst xmlns:a="http://schemas.openxmlformats.org/drawingml/2006/main">
              <a:ext uri="{FF2B5EF4-FFF2-40B4-BE49-F238E27FC236}">
                <a16:creationId xmlns:a16="http://schemas.microsoft.com/office/drawing/2014/main" id="{4A37C2D3-31A5-4E30-9F29-A1AC68AE9937}"/>
              </a:ext>
            </a:extLst>
          </p:cNvPr>
          <p:cNvSpPr>
            <a:spLocks xmlns:a="http://schemas.openxmlformats.org/drawingml/2006/main" noGrp="1"/>
          </p:cNvSpPr>
          <p:nvPr/>
        </p:nvSpPr>
        <p:spPr>
          <a:xfrm xmlns:a="http://schemas.openxmlformats.org/drawingml/2006/main">
            <a:off x="1238250" y="3028950"/>
            <a:ext cx="16954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142735"/>
                </a:solidFill>
                <a:latin typeface="Avenir Next"/>
                <a:ea typeface="Avenir Next"/>
                <a:cs typeface="Avenir Next"/>
              </a:defRPr>
            </a:pPr>
            <a:r>
              <a:rPr sz="1350" b="0">
                <a:solidFill>
                  <a:srgbClr val="142735"/>
                </a:solidFill>
                <a:latin typeface="Avenir Next"/>
                <a:ea typeface="Avenir Next"/>
                <a:cs typeface="Avenir Next"/>
              </a:rPr>
              <a:t>External blueprint</a:t>
            </a:r>
          </a:p>
          <a:p xmlns:a="http://schemas.openxmlformats.org/drawingml/2006/main">
            <a:pPr algn="ctr">
              <a:defRPr sz="1350" b="0">
                <a:solidFill>
                  <a:srgbClr val="142735"/>
                </a:solidFill>
                <a:latin typeface="Avenir Next"/>
                <a:ea typeface="Avenir Next"/>
                <a:cs typeface="Avenir Next"/>
              </a:defRPr>
            </a:pPr>
            <a:r>
              <a:rPr sz="1350" b="0">
                <a:solidFill>
                  <a:srgbClr val="142735"/>
                </a:solidFill>
                <a:latin typeface="Avenir Next"/>
                <a:ea typeface="Avenir Next"/>
                <a:cs typeface="Avenir Next"/>
              </a:rPr>
              <a:t>MCP discovery + invocation</a:t>
            </a:r>
          </a:p>
        </p:txBody>
      </p:sp>
      <p:sp>
        <p:nvSpPr>
          <p:cNvPr id="11" name="">
            <a:extLst xmlns:a="http://schemas.openxmlformats.org/drawingml/2006/main">
              <a:ext uri="{FF2B5EF4-FFF2-40B4-BE49-F238E27FC236}">
                <a16:creationId xmlns:a16="http://schemas.microsoft.com/office/drawing/2014/main" id="{A49C234C-EE86-4B02-B72E-D7306025ED87}"/>
              </a:ext>
            </a:extLst>
          </p:cNvPr>
          <p:cNvSpPr>
            <a:spLocks xmlns:a="http://schemas.openxmlformats.org/drawingml/2006/main" noGrp="1"/>
          </p:cNvSpPr>
          <p:nvPr/>
        </p:nvSpPr>
        <p:spPr>
          <a:xfrm xmlns:a="http://schemas.openxmlformats.org/drawingml/2006/main">
            <a:off x="3619500" y="2286000"/>
            <a:ext cx="2381250" cy="2133600"/>
          </a:xfrm>
          <a:prstGeom xmlns:a="http://schemas.openxmlformats.org/drawingml/2006/main" prst="roundRect">
            <a:avLst>
              <a:gd name="adj" fmla="val 3571"/>
            </a:avLst>
          </a:prstGeom>
          <a:solidFill xmlns:a="http://schemas.openxmlformats.org/drawingml/2006/main">
            <a:srgbClr val="E6F1FA"/>
          </a:solidFill>
          <a:ln xmlns:a="http://schemas.openxmlformats.org/drawingml/2006/main" w="14288">
            <a:solidFill>
              <a:srgbClr val="1769AA"/>
            </a:solidFill>
            <a:prstDash val="solid"/>
          </a:ln>
        </p:spPr>
      </p:sp>
      <p:sp>
        <p:nvSpPr>
          <p:cNvPr id="12" name="">
            <a:extLst xmlns:a="http://schemas.openxmlformats.org/drawingml/2006/main">
              <a:ext uri="{FF2B5EF4-FFF2-40B4-BE49-F238E27FC236}">
                <a16:creationId xmlns:a16="http://schemas.microsoft.com/office/drawing/2014/main" id="{2AF603EA-513F-4620-8697-7C5700F5B936}"/>
              </a:ext>
            </a:extLst>
          </p:cNvPr>
          <p:cNvSpPr>
            <a:spLocks xmlns:a="http://schemas.openxmlformats.org/drawingml/2006/main" noGrp="1"/>
          </p:cNvSpPr>
          <p:nvPr/>
        </p:nvSpPr>
        <p:spPr>
          <a:xfrm xmlns:a="http://schemas.openxmlformats.org/drawingml/2006/main">
            <a:off x="3790950" y="2457450"/>
            <a:ext cx="2038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1769AA"/>
                </a:solidFill>
                <a:latin typeface="Avenir Next"/>
                <a:ea typeface="Avenir Next"/>
                <a:cs typeface="Avenir Next"/>
              </a:defRPr>
            </a:pPr>
            <a:r>
              <a:rPr sz="1800" b="1">
                <a:solidFill>
                  <a:srgbClr val="1769AA"/>
                </a:solidFill>
                <a:latin typeface="Avenir Next"/>
                <a:ea typeface="Avenir Next"/>
                <a:cs typeface="Avenir Next"/>
              </a:rPr>
              <a:t>Forepaw skills</a:t>
            </a:r>
          </a:p>
        </p:txBody>
      </p:sp>
      <p:sp>
        <p:nvSpPr>
          <p:cNvPr id="13" name="">
            <a:extLst xmlns:a="http://schemas.openxmlformats.org/drawingml/2006/main">
              <a:ext uri="{FF2B5EF4-FFF2-40B4-BE49-F238E27FC236}">
                <a16:creationId xmlns:a16="http://schemas.microsoft.com/office/drawing/2014/main" id="{6B783C3A-8710-44BE-B981-E13D08368C2C}"/>
              </a:ext>
            </a:extLst>
          </p:cNvPr>
          <p:cNvSpPr>
            <a:spLocks xmlns:a="http://schemas.openxmlformats.org/drawingml/2006/main" noGrp="1"/>
          </p:cNvSpPr>
          <p:nvPr/>
        </p:nvSpPr>
        <p:spPr>
          <a:xfrm xmlns:a="http://schemas.openxmlformats.org/drawingml/2006/main">
            <a:off x="3790950" y="3028950"/>
            <a:ext cx="20383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142735"/>
                </a:solidFill>
                <a:latin typeface="Avenir Next"/>
                <a:ea typeface="Avenir Next"/>
                <a:cs typeface="Avenir Next"/>
              </a:defRPr>
            </a:pPr>
            <a:r>
              <a:rPr sz="1350" b="0">
                <a:solidFill>
                  <a:srgbClr val="142735"/>
                </a:solidFill>
                <a:latin typeface="Avenir Next"/>
                <a:ea typeface="Avenir Next"/>
                <a:cs typeface="Avenir Next"/>
              </a:rPr>
              <a:t>imagine</a:t>
            </a:r>
          </a:p>
          <a:p xmlns:a="http://schemas.openxmlformats.org/drawingml/2006/main">
            <a:pPr algn="ctr">
              <a:defRPr sz="1350" b="0">
                <a:solidFill>
                  <a:srgbClr val="142735"/>
                </a:solidFill>
                <a:latin typeface="Avenir Next"/>
                <a:ea typeface="Avenir Next"/>
                <a:cs typeface="Avenir Next"/>
              </a:defRPr>
            </a:pPr>
            <a:r>
              <a:rPr sz="1350" b="0">
                <a:solidFill>
                  <a:srgbClr val="142735"/>
                </a:solidFill>
                <a:latin typeface="Avenir Next"/>
                <a:ea typeface="Avenir Next"/>
                <a:cs typeface="Avenir Next"/>
              </a:rPr>
              <a:t>plan_to</a:t>
            </a:r>
          </a:p>
          <a:p xmlns:a="http://schemas.openxmlformats.org/drawingml/2006/main">
            <a:pPr algn="ctr">
              <a:defRPr sz="1350" b="0">
                <a:solidFill>
                  <a:srgbClr val="142735"/>
                </a:solidFill>
                <a:latin typeface="Avenir Next"/>
                <a:ea typeface="Avenir Next"/>
                <a:cs typeface="Avenir Next"/>
              </a:defRPr>
            </a:pPr>
            <a:r>
              <a:rPr sz="1350" b="0">
                <a:solidFill>
                  <a:srgbClr val="142735"/>
                </a:solidFill>
                <a:latin typeface="Avenir Next"/>
                <a:ea typeface="Avenir Next"/>
                <a:cs typeface="Avenir Next"/>
              </a:rPr>
              <a:t>stop_motion</a:t>
            </a:r>
          </a:p>
        </p:txBody>
      </p:sp>
      <p:sp>
        <p:nvSpPr>
          <p:cNvPr id="14" name="">
            <a:extLst xmlns:a="http://schemas.openxmlformats.org/drawingml/2006/main">
              <a:ext uri="{FF2B5EF4-FFF2-40B4-BE49-F238E27FC236}">
                <a16:creationId xmlns:a16="http://schemas.microsoft.com/office/drawing/2014/main" id="{96D0B9DB-A76B-480B-8C0A-D1D4EA204419}"/>
              </a:ext>
            </a:extLst>
          </p:cNvPr>
          <p:cNvSpPr>
            <a:spLocks xmlns:a="http://schemas.openxmlformats.org/drawingml/2006/main" noGrp="1"/>
          </p:cNvSpPr>
          <p:nvPr/>
        </p:nvSpPr>
        <p:spPr>
          <a:xfrm xmlns:a="http://schemas.openxmlformats.org/drawingml/2006/main">
            <a:off x="6515100" y="2286000"/>
            <a:ext cx="2076450" cy="2133600"/>
          </a:xfrm>
          <a:prstGeom xmlns:a="http://schemas.openxmlformats.org/drawingml/2006/main" prst="roundRect">
            <a:avLst>
              <a:gd name="adj" fmla="val 3670"/>
            </a:avLst>
          </a:prstGeom>
          <a:solidFill xmlns:a="http://schemas.openxmlformats.org/drawingml/2006/main">
            <a:srgbClr val="E5F5EF"/>
          </a:solidFill>
          <a:ln xmlns:a="http://schemas.openxmlformats.org/drawingml/2006/main" w="14288">
            <a:solidFill>
              <a:srgbClr val="167A5B"/>
            </a:solidFill>
            <a:prstDash val="solid"/>
          </a:ln>
        </p:spPr>
      </p:sp>
      <p:sp>
        <p:nvSpPr>
          <p:cNvPr id="15" name="">
            <a:extLst xmlns:a="http://schemas.openxmlformats.org/drawingml/2006/main">
              <a:ext uri="{FF2B5EF4-FFF2-40B4-BE49-F238E27FC236}">
                <a16:creationId xmlns:a16="http://schemas.microsoft.com/office/drawing/2014/main" id="{835F545D-C02F-4BBC-8B3D-A25957D686ED}"/>
              </a:ext>
            </a:extLst>
          </p:cNvPr>
          <p:cNvSpPr>
            <a:spLocks xmlns:a="http://schemas.openxmlformats.org/drawingml/2006/main" noGrp="1"/>
          </p:cNvSpPr>
          <p:nvPr/>
        </p:nvSpPr>
        <p:spPr>
          <a:xfrm xmlns:a="http://schemas.openxmlformats.org/drawingml/2006/main">
            <a:off x="6686550" y="2457450"/>
            <a:ext cx="1733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167A5B"/>
                </a:solidFill>
                <a:latin typeface="Avenir Next"/>
                <a:ea typeface="Avenir Next"/>
                <a:cs typeface="Avenir Next"/>
              </a:defRPr>
            </a:pPr>
            <a:r>
              <a:rPr sz="1800" b="1">
                <a:solidFill>
                  <a:srgbClr val="167A5B"/>
                </a:solidFill>
                <a:latin typeface="Avenir Next"/>
                <a:ea typeface="Avenir Next"/>
                <a:cs typeface="Avenir Next"/>
              </a:rPr>
              <a:t>Controller</a:t>
            </a:r>
          </a:p>
        </p:txBody>
      </p:sp>
      <p:sp>
        <p:nvSpPr>
          <p:cNvPr id="16" name="">
            <a:extLst xmlns:a="http://schemas.openxmlformats.org/drawingml/2006/main">
              <a:ext uri="{FF2B5EF4-FFF2-40B4-BE49-F238E27FC236}">
                <a16:creationId xmlns:a16="http://schemas.microsoft.com/office/drawing/2014/main" id="{76CB4A04-E3D4-4213-8588-6621627DE01B}"/>
              </a:ext>
            </a:extLst>
          </p:cNvPr>
          <p:cNvSpPr>
            <a:spLocks xmlns:a="http://schemas.openxmlformats.org/drawingml/2006/main" noGrp="1"/>
          </p:cNvSpPr>
          <p:nvPr/>
        </p:nvSpPr>
        <p:spPr>
          <a:xfrm xmlns:a="http://schemas.openxmlformats.org/drawingml/2006/main">
            <a:off x="6686550" y="3028950"/>
            <a:ext cx="17335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142735"/>
                </a:solidFill>
                <a:latin typeface="Avenir Next"/>
                <a:ea typeface="Avenir Next"/>
                <a:cs typeface="Avenir Next"/>
              </a:defRPr>
            </a:pPr>
            <a:r>
              <a:rPr sz="1350" b="0">
                <a:solidFill>
                  <a:srgbClr val="142735"/>
                </a:solidFill>
                <a:latin typeface="Avenir Next"/>
                <a:ea typeface="Avenir Next"/>
                <a:cs typeface="Avenir Next"/>
              </a:rPr>
              <a:t>Sole motion owner</a:t>
            </a:r>
          </a:p>
          <a:p xmlns:a="http://schemas.openxmlformats.org/drawingml/2006/main">
            <a:pPr algn="ctr">
              <a:defRPr sz="1350" b="0">
                <a:solidFill>
                  <a:srgbClr val="142735"/>
                </a:solidFill>
                <a:latin typeface="Avenir Next"/>
                <a:ea typeface="Avenir Next"/>
                <a:cs typeface="Avenir Next"/>
              </a:defRPr>
            </a:pPr>
            <a:r>
              <a:rPr sz="1350" b="0">
                <a:solidFill>
                  <a:srgbClr val="142735"/>
                </a:solidFill>
                <a:latin typeface="Avenir Next"/>
                <a:ea typeface="Avenir Next"/>
                <a:cs typeface="Avenir Next"/>
              </a:rPr>
              <a:t>lock before motion</a:t>
            </a:r>
          </a:p>
        </p:txBody>
      </p:sp>
      <p:sp>
        <p:nvSpPr>
          <p:cNvPr id="17" name="">
            <a:extLst xmlns:a="http://schemas.openxmlformats.org/drawingml/2006/main">
              <a:ext uri="{FF2B5EF4-FFF2-40B4-BE49-F238E27FC236}">
                <a16:creationId xmlns:a16="http://schemas.microsoft.com/office/drawing/2014/main" id="{47BDACCA-1047-4848-AE40-DE2183B6B3AE}"/>
              </a:ext>
            </a:extLst>
          </p:cNvPr>
          <p:cNvSpPr>
            <a:spLocks xmlns:a="http://schemas.openxmlformats.org/drawingml/2006/main" noGrp="1"/>
          </p:cNvSpPr>
          <p:nvPr/>
        </p:nvSpPr>
        <p:spPr>
          <a:xfrm xmlns:a="http://schemas.openxmlformats.org/drawingml/2006/main">
            <a:off x="9105900" y="2286000"/>
            <a:ext cx="2038350" cy="2133600"/>
          </a:xfrm>
          <a:prstGeom xmlns:a="http://schemas.openxmlformats.org/drawingml/2006/main" prst="roundRect">
            <a:avLst>
              <a:gd name="adj" fmla="val 3738"/>
            </a:avLst>
          </a:prstGeom>
          <a:solidFill xmlns:a="http://schemas.openxmlformats.org/drawingml/2006/main">
            <a:srgbClr val="FFF4DB"/>
          </a:solidFill>
          <a:ln xmlns:a="http://schemas.openxmlformats.org/drawingml/2006/main" w="14288">
            <a:solidFill>
              <a:srgbClr val="A56600"/>
            </a:solidFill>
            <a:prstDash val="solid"/>
          </a:ln>
        </p:spPr>
      </p:sp>
      <p:sp>
        <p:nvSpPr>
          <p:cNvPr id="18" name="">
            <a:extLst xmlns:a="http://schemas.openxmlformats.org/drawingml/2006/main">
              <a:ext uri="{FF2B5EF4-FFF2-40B4-BE49-F238E27FC236}">
                <a16:creationId xmlns:a16="http://schemas.microsoft.com/office/drawing/2014/main" id="{BC67AB12-6955-4127-9BE0-DC163E936178}"/>
              </a:ext>
            </a:extLst>
          </p:cNvPr>
          <p:cNvSpPr>
            <a:spLocks xmlns:a="http://schemas.openxmlformats.org/drawingml/2006/main" noGrp="1"/>
          </p:cNvSpPr>
          <p:nvPr/>
        </p:nvSpPr>
        <p:spPr>
          <a:xfrm xmlns:a="http://schemas.openxmlformats.org/drawingml/2006/main">
            <a:off x="9277350" y="2457450"/>
            <a:ext cx="1695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1">
                <a:solidFill>
                  <a:srgbClr val="A56600"/>
                </a:solidFill>
                <a:latin typeface="Avenir Next"/>
                <a:ea typeface="Avenir Next"/>
                <a:cs typeface="Avenir Next"/>
              </a:defRPr>
            </a:pPr>
            <a:r>
              <a:rPr sz="1800" b="1">
                <a:solidFill>
                  <a:srgbClr val="A56600"/>
                </a:solidFill>
                <a:latin typeface="Avenir Next"/>
                <a:ea typeface="Avenir Next"/>
                <a:cs typeface="Avenir Next"/>
              </a:rPr>
              <a:t>True-Go2</a:t>
            </a:r>
          </a:p>
        </p:txBody>
      </p:sp>
      <p:sp>
        <p:nvSpPr>
          <p:cNvPr id="19" name="">
            <a:extLst xmlns:a="http://schemas.openxmlformats.org/drawingml/2006/main">
              <a:ext uri="{FF2B5EF4-FFF2-40B4-BE49-F238E27FC236}">
                <a16:creationId xmlns:a16="http://schemas.microsoft.com/office/drawing/2014/main" id="{2C83022C-2715-4A1C-B729-DBEFE0A0E10B}"/>
              </a:ext>
            </a:extLst>
          </p:cNvPr>
          <p:cNvSpPr>
            <a:spLocks xmlns:a="http://schemas.openxmlformats.org/drawingml/2006/main" noGrp="1"/>
          </p:cNvSpPr>
          <p:nvPr/>
        </p:nvSpPr>
        <p:spPr>
          <a:xfrm xmlns:a="http://schemas.openxmlformats.org/drawingml/2006/main">
            <a:off x="9277350" y="3028950"/>
            <a:ext cx="16954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142735"/>
                </a:solidFill>
                <a:latin typeface="Avenir Next"/>
                <a:ea typeface="Avenir Next"/>
                <a:cs typeface="Avenir Next"/>
              </a:defRPr>
            </a:pPr>
            <a:r>
              <a:rPr sz="1350" b="0">
                <a:solidFill>
                  <a:srgbClr val="142735"/>
                </a:solidFill>
                <a:latin typeface="Avenir Next"/>
                <a:ea typeface="Avenir Next"/>
                <a:cs typeface="Avenir Next"/>
              </a:rPr>
              <a:t>MjLab simulation</a:t>
            </a:r>
          </a:p>
          <a:p xmlns:a="http://schemas.openxmlformats.org/drawingml/2006/main">
            <a:pPr algn="ctr">
              <a:defRPr sz="1350" b="0">
                <a:solidFill>
                  <a:srgbClr val="142735"/>
                </a:solidFill>
                <a:latin typeface="Avenir Next"/>
                <a:ea typeface="Avenir Next"/>
                <a:cs typeface="Avenir Next"/>
              </a:defRPr>
            </a:pPr>
            <a:r>
              <a:rPr sz="1350" b="0">
                <a:solidFill>
                  <a:srgbClr val="142735"/>
                </a:solidFill>
                <a:latin typeface="Avenir Next"/>
                <a:ea typeface="Avenir Next"/>
                <a:cs typeface="Avenir Next"/>
              </a:rPr>
              <a:t>0.5 s first block</a:t>
            </a:r>
          </a:p>
        </p:txBody>
      </p:sp>
      <p:sp>
        <p:nvSpPr>
          <p:cNvPr id="20" name="">
            <a:extLst xmlns:a="http://schemas.openxmlformats.org/drawingml/2006/main">
              <a:ext uri="{FF2B5EF4-FFF2-40B4-BE49-F238E27FC236}">
                <a16:creationId xmlns:a16="http://schemas.microsoft.com/office/drawing/2014/main" id="{8C22F801-8890-45B1-A133-8140FA5E2EB4}"/>
              </a:ext>
            </a:extLst>
          </p:cNvPr>
          <p:cNvSpPr>
            <a:spLocks xmlns:a="http://schemas.openxmlformats.org/drawingml/2006/main" noGrp="1"/>
          </p:cNvSpPr>
          <p:nvPr/>
        </p:nvSpPr>
        <p:spPr>
          <a:xfrm xmlns:a="http://schemas.openxmlformats.org/drawingml/2006/main">
            <a:off x="3124200" y="3352800"/>
            <a:ext cx="457200" cy="0"/>
          </a:xfrm>
          <a:prstGeom xmlns:a="http://schemas.openxmlformats.org/drawingml/2006/main" prst="line">
            <a:avLst/>
          </a:prstGeom>
          <a:noFill xmlns:a="http://schemas.openxmlformats.org/drawingml/2006/main"/>
          <a:ln xmlns:a="http://schemas.openxmlformats.org/drawingml/2006/main" w="28575">
            <a:solidFill>
              <a:srgbClr val="2D7F86"/>
            </a:solidFill>
            <a:prstDash val="solid"/>
          </a:ln>
        </p:spPr>
      </p:sp>
      <p:sp>
        <p:nvSpPr>
          <p:cNvPr id="21" name="">
            <a:extLst xmlns:a="http://schemas.openxmlformats.org/drawingml/2006/main">
              <a:ext uri="{FF2B5EF4-FFF2-40B4-BE49-F238E27FC236}">
                <a16:creationId xmlns:a16="http://schemas.microsoft.com/office/drawing/2014/main" id="{D42BEF0E-469B-4FF5-B8DF-26D21A147929}"/>
              </a:ext>
            </a:extLst>
          </p:cNvPr>
          <p:cNvSpPr>
            <a:spLocks xmlns:a="http://schemas.openxmlformats.org/drawingml/2006/main" noGrp="1"/>
          </p:cNvSpPr>
          <p:nvPr/>
        </p:nvSpPr>
        <p:spPr>
          <a:xfrm xmlns:a="http://schemas.openxmlformats.org/drawingml/2006/main">
            <a:off x="6019800" y="3352800"/>
            <a:ext cx="457200" cy="0"/>
          </a:xfrm>
          <a:prstGeom xmlns:a="http://schemas.openxmlformats.org/drawingml/2006/main" prst="line">
            <a:avLst/>
          </a:prstGeom>
          <a:noFill xmlns:a="http://schemas.openxmlformats.org/drawingml/2006/main"/>
          <a:ln xmlns:a="http://schemas.openxmlformats.org/drawingml/2006/main" w="28575">
            <a:solidFill>
              <a:srgbClr val="1769AA"/>
            </a:solidFill>
            <a:prstDash val="solid"/>
          </a:ln>
        </p:spPr>
      </p:sp>
      <p:sp>
        <p:nvSpPr>
          <p:cNvPr id="22" name="">
            <a:extLst xmlns:a="http://schemas.openxmlformats.org/drawingml/2006/main">
              <a:ext uri="{FF2B5EF4-FFF2-40B4-BE49-F238E27FC236}">
                <a16:creationId xmlns:a16="http://schemas.microsoft.com/office/drawing/2014/main" id="{C044FBDE-A90A-4828-969D-33A069EB30D8}"/>
              </a:ext>
            </a:extLst>
          </p:cNvPr>
          <p:cNvSpPr>
            <a:spLocks xmlns:a="http://schemas.openxmlformats.org/drawingml/2006/main" noGrp="1"/>
          </p:cNvSpPr>
          <p:nvPr/>
        </p:nvSpPr>
        <p:spPr>
          <a:xfrm xmlns:a="http://schemas.openxmlformats.org/drawingml/2006/main">
            <a:off x="8610600" y="3352800"/>
            <a:ext cx="457200" cy="0"/>
          </a:xfrm>
          <a:prstGeom xmlns:a="http://schemas.openxmlformats.org/drawingml/2006/main" prst="line">
            <a:avLst/>
          </a:prstGeom>
          <a:noFill xmlns:a="http://schemas.openxmlformats.org/drawingml/2006/main"/>
          <a:ln xmlns:a="http://schemas.openxmlformats.org/drawingml/2006/main" w="28575">
            <a:solidFill>
              <a:srgbClr val="167A5B"/>
            </a:solidFill>
            <a:prstDash val="solid"/>
          </a:ln>
        </p:spPr>
      </p:sp>
      <p:sp>
        <p:nvSpPr>
          <p:cNvPr id="23" name="">
            <a:extLst xmlns:a="http://schemas.openxmlformats.org/drawingml/2006/main">
              <a:ext uri="{FF2B5EF4-FFF2-40B4-BE49-F238E27FC236}">
                <a16:creationId xmlns:a16="http://schemas.microsoft.com/office/drawing/2014/main" id="{BF0AF19C-2C0A-4C7A-9626-AC14F4F796F0}"/>
              </a:ext>
            </a:extLst>
          </p:cNvPr>
          <p:cNvSpPr>
            <a:spLocks xmlns:a="http://schemas.openxmlformats.org/drawingml/2006/main" noGrp="1"/>
          </p:cNvSpPr>
          <p:nvPr/>
        </p:nvSpPr>
        <p:spPr>
          <a:xfrm xmlns:a="http://schemas.openxmlformats.org/drawingml/2006/main">
            <a:off x="1638300" y="5010150"/>
            <a:ext cx="2838450" cy="285750"/>
          </a:xfrm>
          <a:prstGeom xmlns:a="http://schemas.openxmlformats.org/drawingml/2006/main" prst="roundRect">
            <a:avLst>
              <a:gd name="adj" fmla="val 26667"/>
            </a:avLst>
          </a:prstGeom>
          <a:solidFill xmlns:a="http://schemas.openxmlformats.org/drawingml/2006/main">
            <a:srgbClr val="E5F5E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679DB69-E6A7-4B43-8BF6-6380D191AA60}"/>
              </a:ext>
            </a:extLst>
          </p:cNvPr>
          <p:cNvSpPr>
            <a:spLocks xmlns:a="http://schemas.openxmlformats.org/drawingml/2006/main" noGrp="1"/>
          </p:cNvSpPr>
          <p:nvPr/>
        </p:nvSpPr>
        <p:spPr>
          <a:xfrm xmlns:a="http://schemas.openxmlformats.org/drawingml/2006/main">
            <a:off x="1733550" y="5019675"/>
            <a:ext cx="2647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167A5B"/>
                </a:solidFill>
                <a:latin typeface="Avenir Next"/>
                <a:ea typeface="Avenir Next"/>
                <a:cs typeface="Avenir Next"/>
              </a:defRPr>
            </a:pPr>
            <a:r>
              <a:rPr sz="975" b="1">
                <a:solidFill>
                  <a:srgbClr val="167A5B"/>
                </a:solidFill>
                <a:latin typeface="Avenir Next"/>
                <a:ea typeface="Avenir Next"/>
                <a:cs typeface="Avenir Next"/>
              </a:rPr>
              <a:t>45 VERIFIED PLANNING CYCLES</a:t>
            </a:r>
          </a:p>
        </p:txBody>
      </p:sp>
      <p:sp>
        <p:nvSpPr>
          <p:cNvPr id="25" name="">
            <a:extLst xmlns:a="http://schemas.openxmlformats.org/drawingml/2006/main">
              <a:ext uri="{FF2B5EF4-FFF2-40B4-BE49-F238E27FC236}">
                <a16:creationId xmlns:a16="http://schemas.microsoft.com/office/drawing/2014/main" id="{C06A7206-AA53-47C1-B9E9-A3BC05E40590}"/>
              </a:ext>
            </a:extLst>
          </p:cNvPr>
          <p:cNvSpPr>
            <a:spLocks xmlns:a="http://schemas.openxmlformats.org/drawingml/2006/main" noGrp="1"/>
          </p:cNvSpPr>
          <p:nvPr/>
        </p:nvSpPr>
        <p:spPr>
          <a:xfrm xmlns:a="http://schemas.openxmlformats.org/drawingml/2006/main">
            <a:off x="4686300" y="5010150"/>
            <a:ext cx="2838450" cy="285750"/>
          </a:xfrm>
          <a:prstGeom xmlns:a="http://schemas.openxmlformats.org/drawingml/2006/main" prst="roundRect">
            <a:avLst>
              <a:gd name="adj" fmla="val 26667"/>
            </a:avLst>
          </a:prstGeom>
          <a:solidFill xmlns:a="http://schemas.openxmlformats.org/drawingml/2006/main">
            <a:srgbClr val="E6F1FA"/>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094D59D5-4AE0-4E87-934A-17D57106AFA6}"/>
              </a:ext>
            </a:extLst>
          </p:cNvPr>
          <p:cNvSpPr>
            <a:spLocks xmlns:a="http://schemas.openxmlformats.org/drawingml/2006/main" noGrp="1"/>
          </p:cNvSpPr>
          <p:nvPr/>
        </p:nvSpPr>
        <p:spPr>
          <a:xfrm xmlns:a="http://schemas.openxmlformats.org/drawingml/2006/main">
            <a:off x="4781550" y="5019675"/>
            <a:ext cx="2647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1769AA"/>
                </a:solidFill>
                <a:latin typeface="Avenir Next"/>
                <a:ea typeface="Avenir Next"/>
                <a:cs typeface="Avenir Next"/>
              </a:defRPr>
            </a:pPr>
            <a:r>
              <a:rPr sz="975" b="1">
                <a:solidFill>
                  <a:srgbClr val="1769AA"/>
                </a:solidFill>
                <a:latin typeface="Avenir Next"/>
                <a:ea typeface="Avenir Next"/>
                <a:cs typeface="Avenir Next"/>
              </a:rPr>
              <a:t>64 CANDIDATES × 6 BLOCKS</a:t>
            </a:r>
          </a:p>
        </p:txBody>
      </p:sp>
      <p:sp>
        <p:nvSpPr>
          <p:cNvPr id="27" name="">
            <a:extLst xmlns:a="http://schemas.openxmlformats.org/drawingml/2006/main">
              <a:ext uri="{FF2B5EF4-FFF2-40B4-BE49-F238E27FC236}">
                <a16:creationId xmlns:a16="http://schemas.microsoft.com/office/drawing/2014/main" id="{528F4B63-6653-43F7-8E95-7D5D7DEF6C0E}"/>
              </a:ext>
            </a:extLst>
          </p:cNvPr>
          <p:cNvSpPr>
            <a:spLocks xmlns:a="http://schemas.openxmlformats.org/drawingml/2006/main" noGrp="1"/>
          </p:cNvSpPr>
          <p:nvPr/>
        </p:nvSpPr>
        <p:spPr>
          <a:xfrm xmlns:a="http://schemas.openxmlformats.org/drawingml/2006/main">
            <a:off x="7734300" y="5010150"/>
            <a:ext cx="2838450" cy="285750"/>
          </a:xfrm>
          <a:prstGeom xmlns:a="http://schemas.openxmlformats.org/drawingml/2006/main" prst="roundRect">
            <a:avLst>
              <a:gd name="adj" fmla="val 26667"/>
            </a:avLst>
          </a:prstGeom>
          <a:solidFill xmlns:a="http://schemas.openxmlformats.org/drawingml/2006/main">
            <a:srgbClr val="FFF4DB"/>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6843C2F8-0090-41CF-AB7C-BCE5099F9B8B}"/>
              </a:ext>
            </a:extLst>
          </p:cNvPr>
          <p:cNvSpPr>
            <a:spLocks xmlns:a="http://schemas.openxmlformats.org/drawingml/2006/main" noGrp="1"/>
          </p:cNvSpPr>
          <p:nvPr/>
        </p:nvSpPr>
        <p:spPr>
          <a:xfrm xmlns:a="http://schemas.openxmlformats.org/drawingml/2006/main">
            <a:off x="7829550" y="5019675"/>
            <a:ext cx="2647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A56600"/>
                </a:solidFill>
                <a:latin typeface="Avenir Next"/>
                <a:ea typeface="Avenir Next"/>
                <a:cs typeface="Avenir Next"/>
              </a:defRPr>
            </a:pPr>
            <a:r>
              <a:rPr sz="975" b="1">
                <a:solidFill>
                  <a:srgbClr val="A56600"/>
                </a:solidFill>
                <a:latin typeface="Avenir Next"/>
                <a:ea typeface="Avenir Next"/>
                <a:cs typeface="Avenir Next"/>
              </a:rPr>
              <a:t>REFERENCE PREDICTOR</a:t>
            </a:r>
          </a:p>
        </p:txBody>
      </p:sp>
      <p:sp>
        <p:nvSpPr>
          <p:cNvPr id="29" name="">
            <a:extLst xmlns:a="http://schemas.openxmlformats.org/drawingml/2006/main">
              <a:ext uri="{FF2B5EF4-FFF2-40B4-BE49-F238E27FC236}">
                <a16:creationId xmlns:a16="http://schemas.microsoft.com/office/drawing/2014/main" id="{C341B4D8-531A-41C6-B423-607B097BE61B}"/>
              </a:ext>
            </a:extLst>
          </p:cNvPr>
          <p:cNvSpPr>
            <a:spLocks xmlns:a="http://schemas.openxmlformats.org/drawingml/2006/main" noGrp="1"/>
          </p:cNvSpPr>
          <p:nvPr/>
        </p:nvSpPr>
        <p:spPr>
          <a:xfrm xmlns:a="http://schemas.openxmlformats.org/drawingml/2006/main">
            <a:off x="1428750" y="5543550"/>
            <a:ext cx="933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0">
                <a:solidFill>
                  <a:srgbClr val="5B6770"/>
                </a:solidFill>
                <a:latin typeface="Avenir Next"/>
                <a:ea typeface="Avenir Next"/>
                <a:cs typeface="Avenir Next"/>
              </a:defRPr>
            </a:pPr>
            <a:r>
              <a:rPr sz="1350" b="0">
                <a:solidFill>
                  <a:srgbClr val="5B6770"/>
                </a:solidFill>
                <a:latin typeface="Avenir Next"/>
                <a:ea typeface="Avenir Next"/>
                <a:cs typeface="Avenir Next"/>
              </a:rPr>
              <a:t>The current predictor reads simulator pose. The learned LeWM experiment is not used for control.</a:t>
            </a:r>
          </a:p>
        </p:txBody>
      </p:sp>
      <p:sp>
        <p:nvSpPr>
          <p:cNvPr id="30" name="">
            <a:extLst xmlns:a="http://schemas.openxmlformats.org/drawingml/2006/main">
              <a:ext uri="{FF2B5EF4-FFF2-40B4-BE49-F238E27FC236}">
                <a16:creationId xmlns:a16="http://schemas.microsoft.com/office/drawing/2014/main" id="{C8D3A6FA-22AD-4528-A6A7-DCDC9FA1E21F}"/>
              </a:ext>
            </a:extLst>
          </p:cNvPr>
          <p:cNvSpPr>
            <a:spLocks xmlns:a="http://schemas.openxmlformats.org/drawingml/2006/main" noGrp="1"/>
          </p:cNvSpPr>
          <p:nvPr/>
        </p:nvSpPr>
        <p:spPr>
          <a:xfrm xmlns:a="http://schemas.openxmlformats.org/drawingml/2006/main">
            <a:off x="0" y="0"/>
            <a:ext cx="12192000" cy="1809750"/>
          </a:xfrm>
          <a:prstGeom xmlns:a="http://schemas.openxmlformats.org/drawingml/2006/main" prst="rect">
            <a:avLst/>
          </a:prstGeom>
          <a:solidFill xmlns:a="http://schemas.openxmlformats.org/drawingml/2006/main">
            <a:srgbClr val="FCFBF6"/>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D5CF82F1-B916-47E3-BCC9-6BD151E1F32E}"/>
              </a:ext>
            </a:extLst>
          </p:cNvPr>
          <p:cNvSpPr>
            <a:spLocks xmlns:a="http://schemas.openxmlformats.org/drawingml/2006/main" noGrp="1"/>
          </p:cNvSpPr>
          <p:nvPr/>
        </p:nvSpPr>
        <p:spPr>
          <a:xfrm xmlns:a="http://schemas.openxmlformats.org/drawingml/2006/main">
            <a:off x="609600" y="247650"/>
            <a:ext cx="685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400" b="1">
                <a:solidFill>
                  <a:srgbClr val="142735"/>
                </a:solidFill>
                <a:latin typeface="Avenir Next"/>
                <a:ea typeface="Avenir Next"/>
                <a:cs typeface="Avenir Next"/>
              </a:defRPr>
            </a:pPr>
            <a:r>
              <a:rPr sz="2400" b="1">
                <a:solidFill>
                  <a:srgbClr val="142735"/>
                </a:solidFill>
                <a:latin typeface="Avenir Next"/>
                <a:ea typeface="Avenir Next"/>
                <a:cs typeface="Avenir Next"/>
              </a:rPr>
              <a:t>dimOS-native control</a:t>
            </a:r>
          </a:p>
        </p:txBody>
      </p:sp>
      <p:sp>
        <p:nvSpPr>
          <p:cNvPr id="32" name="">
            <a:extLst xmlns:a="http://schemas.openxmlformats.org/drawingml/2006/main">
              <a:ext uri="{FF2B5EF4-FFF2-40B4-BE49-F238E27FC236}">
                <a16:creationId xmlns:a16="http://schemas.microsoft.com/office/drawing/2014/main" id="{FAF0F015-AD9E-408C-A11E-CF9218A309E5}"/>
              </a:ext>
            </a:extLst>
          </p:cNvPr>
          <p:cNvSpPr>
            <a:spLocks xmlns:a="http://schemas.openxmlformats.org/drawingml/2006/main" noGrp="1"/>
          </p:cNvSpPr>
          <p:nvPr/>
        </p:nvSpPr>
        <p:spPr>
          <a:xfrm xmlns:a="http://schemas.openxmlformats.org/drawingml/2006/main">
            <a:off x="7810500" y="285750"/>
            <a:ext cx="3771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650" b="1">
                <a:solidFill>
                  <a:srgbClr val="2D7F86"/>
                </a:solidFill>
                <a:latin typeface="Avenir Next"/>
                <a:ea typeface="Avenir Next"/>
                <a:cs typeface="Avenir Next"/>
              </a:defRPr>
            </a:pPr>
            <a:r>
              <a:rPr sz="1650" b="1">
                <a:solidFill>
                  <a:srgbClr val="2D7F86"/>
                </a:solidFill>
                <a:latin typeface="Avenir Next"/>
                <a:ea typeface="Avenir Next"/>
                <a:cs typeface="Avenir Next"/>
              </a:rPr>
              <a:t>Reusable skill boundary</a:t>
            </a:r>
          </a:p>
        </p:txBody>
      </p:sp>
      <p:sp>
        <p:nvSpPr>
          <p:cNvPr id="33" name="">
            <a:extLst xmlns:a="http://schemas.openxmlformats.org/drawingml/2006/main">
              <a:ext uri="{FF2B5EF4-FFF2-40B4-BE49-F238E27FC236}">
                <a16:creationId xmlns:a16="http://schemas.microsoft.com/office/drawing/2014/main" id="{5091AE8D-7A3D-4AD1-8FB7-596706256BD0}"/>
              </a:ext>
            </a:extLst>
          </p:cNvPr>
          <p:cNvSpPr>
            <a:spLocks xmlns:a="http://schemas.openxmlformats.org/drawingml/2006/main" noGrp="1"/>
          </p:cNvSpPr>
          <p:nvPr/>
        </p:nvSpPr>
        <p:spPr>
          <a:xfrm xmlns:a="http://schemas.openxmlformats.org/drawingml/2006/main">
            <a:off x="514350" y="981075"/>
            <a:ext cx="11144250" cy="9525"/>
          </a:xfrm>
          <a:prstGeom xmlns:a="http://schemas.openxmlformats.org/drawingml/2006/main" prst="rect">
            <a:avLst/>
          </a:prstGeom>
          <a:solidFill xmlns:a="http://schemas.openxmlformats.org/drawingml/2006/main">
            <a:srgbClr val="D6D9D7"/>
          </a:solidFill>
          <a:ln xmlns:a="http://schemas.openxmlformats.org/drawingml/2006/main" w="0">
            <a:noFill/>
            <a:prstDash val="solid"/>
          </a:ln>
        </p:spPr>
      </p:sp>
    </p:spTree>
    <p:extLst>
      <p:ext uri="{BB962C8B-B14F-4D97-AF65-F5344CB8AC3E}">
        <p14:creationId xmlns:p14="http://schemas.microsoft.com/office/powerpoint/2010/main" val="244586380"/>
      </p:ext>
    </p:extLst>
  </p:cSld>
</p:sld>
</file>

<file path=ppt/slides/slide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A717E56A-D1CB-45B7-871B-4D27429C87DA}"/>
              </a:ext>
            </a:extLst>
          </p:cNvPr>
          <p:cNvSpPr>
            <a:spLocks xmlns:a="http://schemas.openxmlformats.org/drawingml/2006/main" noGrp="1"/>
          </p:cNvSpPr>
          <p:nvPr/>
        </p:nvSpPr>
        <p:spPr>
          <a:xfrm xmlns:a="http://schemas.openxmlformats.org/drawingml/2006/main">
            <a:off x="609600" y="400050"/>
            <a:ext cx="1000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3225" b="1">
                <a:solidFill>
                  <a:srgbClr val="151918"/>
                </a:solidFill>
                <a:latin typeface="Avenir Next"/>
                <a:ea typeface="Avenir Next"/>
                <a:cs typeface="Avenir Next"/>
              </a:defRPr>
            </a:pPr>
            <a:r>
              <a:rPr sz="3225" b="1">
                <a:solidFill>
                  <a:srgbClr val="151918"/>
                </a:solidFill>
                <a:latin typeface="Avenir Next"/>
                <a:ea typeface="Avenir Next"/>
                <a:cs typeface="Avenir Next"/>
              </a:rPr>
              <a:t>Forecast six blocks. Execute one. Observe again.</a:t>
            </a:r>
          </a:p>
        </p:txBody>
      </p:sp>
      <p:sp>
        <p:nvSpPr>
          <p:cNvPr id="2" name="">
            <a:extLst xmlns:a="http://schemas.openxmlformats.org/drawingml/2006/main">
              <a:ext uri="{FF2B5EF4-FFF2-40B4-BE49-F238E27FC236}">
                <a16:creationId xmlns:a16="http://schemas.microsoft.com/office/drawing/2014/main" id="{746BCE54-2360-464E-95D5-DC4590BEF5E0}"/>
              </a:ext>
            </a:extLst>
          </p:cNvPr>
          <p:cNvSpPr>
            <a:spLocks xmlns:a="http://schemas.openxmlformats.org/drawingml/2006/main" noGrp="1"/>
          </p:cNvSpPr>
          <p:nvPr/>
        </p:nvSpPr>
        <p:spPr>
          <a:xfrm xmlns:a="http://schemas.openxmlformats.org/drawingml/2006/main">
            <a:off x="11087100" y="5238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1050" b="0">
                <a:solidFill>
                  <a:srgbClr val="8C9491"/>
                </a:solidFill>
                <a:latin typeface="Menlo"/>
                <a:ea typeface="Menlo"/>
                <a:cs typeface="Menlo"/>
              </a:defRPr>
            </a:pPr>
            <a:r>
              <a:rPr sz="1050" b="0">
                <a:solidFill>
                  <a:srgbClr val="8C9491"/>
                </a:solidFill>
                <a:latin typeface="Menlo"/>
                <a:ea typeface="Menlo"/>
                <a:cs typeface="Menlo"/>
              </a:rPr>
              <a:t>04</a:t>
            </a:r>
          </a:p>
        </p:txBody>
      </p:sp>
      <p:sp>
        <p:nvSpPr>
          <p:cNvPr id="3" name="">
            <a:extLst xmlns:a="http://schemas.openxmlformats.org/drawingml/2006/main">
              <a:ext uri="{FF2B5EF4-FFF2-40B4-BE49-F238E27FC236}">
                <a16:creationId xmlns:a16="http://schemas.microsoft.com/office/drawing/2014/main" id="{C5D24A57-6B03-4B41-A608-3B43BA06D72E}"/>
              </a:ext>
            </a:extLst>
          </p:cNvPr>
          <p:cNvSpPr>
            <a:spLocks xmlns:a="http://schemas.openxmlformats.org/drawingml/2006/main" noGrp="1"/>
          </p:cNvSpPr>
          <p:nvPr/>
        </p:nvSpPr>
        <p:spPr>
          <a:xfrm xmlns:a="http://schemas.openxmlformats.org/drawingml/2006/main">
            <a:off x="609600" y="1104900"/>
            <a:ext cx="10972800" cy="9525"/>
          </a:xfrm>
          <a:prstGeom xmlns:a="http://schemas.openxmlformats.org/drawingml/2006/main" prst="rect">
            <a:avLst/>
          </a:prstGeom>
          <a:solidFill xmlns:a="http://schemas.openxmlformats.org/drawingml/2006/main">
            <a:srgbClr val="D9DD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45152C5-C0A1-41DF-B9A0-65A1198ACAB1}"/>
              </a:ext>
            </a:extLst>
          </p:cNvPr>
          <p:cNvSpPr>
            <a:spLocks xmlns:a="http://schemas.openxmlformats.org/drawingml/2006/main" noGrp="1"/>
          </p:cNvSpPr>
          <p:nvPr/>
        </p:nvSpPr>
        <p:spPr>
          <a:xfrm xmlns:a="http://schemas.openxmlformats.org/drawingml/2006/main">
            <a:off x="609600" y="1381125"/>
            <a:ext cx="1009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725" b="0">
                <a:solidFill>
                  <a:srgbClr val="616A67"/>
                </a:solidFill>
                <a:latin typeface="Avenir Next"/>
                <a:ea typeface="Avenir Next"/>
                <a:cs typeface="Avenir Next"/>
              </a:defRPr>
            </a:pPr>
            <a:r>
              <a:rPr sz="1725" b="0">
                <a:solidFill>
                  <a:srgbClr val="616A67"/>
                </a:solidFill>
                <a:latin typeface="Avenir Next"/>
                <a:ea typeface="Avenir Next"/>
                <a:cs typeface="Avenir Next"/>
              </a:rPr>
              <a:t>At 2 Hz, every fresh observation invalidates the unexecuted tail and starts a new locked plan.</a:t>
            </a:r>
          </a:p>
        </p:txBody>
      </p:sp>
      <p:sp>
        <p:nvSpPr>
          <p:cNvPr id="5" name="">
            <a:extLst xmlns:a="http://schemas.openxmlformats.org/drawingml/2006/main">
              <a:ext uri="{FF2B5EF4-FFF2-40B4-BE49-F238E27FC236}">
                <a16:creationId xmlns:a16="http://schemas.microsoft.com/office/drawing/2014/main" id="{DB756126-60A4-48BE-B421-644EF82F5835}"/>
              </a:ext>
            </a:extLst>
          </p:cNvPr>
          <p:cNvSpPr>
            <a:spLocks xmlns:a="http://schemas.openxmlformats.org/drawingml/2006/main" noGrp="1"/>
          </p:cNvSpPr>
          <p:nvPr/>
        </p:nvSpPr>
        <p:spPr>
          <a:xfrm xmlns:a="http://schemas.openxmlformats.org/drawingml/2006/main">
            <a:off x="609600" y="22669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050" b="1">
                <a:solidFill>
                  <a:srgbClr val="8C9491"/>
                </a:solidFill>
                <a:latin typeface="Avenir Next"/>
                <a:ea typeface="Avenir Next"/>
                <a:cs typeface="Avenir Next"/>
              </a:defRPr>
            </a:pPr>
            <a:r>
              <a:rPr sz="1050" b="1">
                <a:solidFill>
                  <a:srgbClr val="8C9491"/>
                </a:solidFill>
                <a:latin typeface="Avenir Next"/>
                <a:ea typeface="Avenir Next"/>
                <a:cs typeface="Avenir Next"/>
              </a:rPr>
              <a:t>OBSERVE</a:t>
            </a:r>
          </a:p>
        </p:txBody>
      </p:sp>
      <p:sp>
        <p:nvSpPr>
          <p:cNvPr id="6" name="">
            <a:extLst xmlns:a="http://schemas.openxmlformats.org/drawingml/2006/main">
              <a:ext uri="{FF2B5EF4-FFF2-40B4-BE49-F238E27FC236}">
                <a16:creationId xmlns:a16="http://schemas.microsoft.com/office/drawing/2014/main" id="{CE619191-6C2E-4CA7-AF86-44338769C308}"/>
              </a:ext>
            </a:extLst>
          </p:cNvPr>
          <p:cNvSpPr>
            <a:spLocks xmlns:a="http://schemas.openxmlformats.org/drawingml/2006/main" noGrp="1"/>
          </p:cNvSpPr>
          <p:nvPr/>
        </p:nvSpPr>
        <p:spPr>
          <a:xfrm xmlns:a="http://schemas.openxmlformats.org/drawingml/2006/main">
            <a:off x="609600" y="2686050"/>
            <a:ext cx="1809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4350" b="1">
                <a:solidFill>
                  <a:srgbClr val="151918"/>
                </a:solidFill>
                <a:latin typeface="Avenir Next"/>
                <a:ea typeface="Avenir Next"/>
                <a:cs typeface="Avenir Next"/>
              </a:defRPr>
            </a:pPr>
            <a:r>
              <a:rPr sz="4350" b="1">
                <a:solidFill>
                  <a:srgbClr val="151918"/>
                </a:solidFill>
                <a:latin typeface="Avenir Next"/>
                <a:ea typeface="Avenir Next"/>
                <a:cs typeface="Avenir Next"/>
              </a:rPr>
              <a:t>3</a:t>
            </a:r>
          </a:p>
        </p:txBody>
      </p:sp>
      <p:sp>
        <p:nvSpPr>
          <p:cNvPr id="7" name="">
            <a:extLst xmlns:a="http://schemas.openxmlformats.org/drawingml/2006/main">
              <a:ext uri="{FF2B5EF4-FFF2-40B4-BE49-F238E27FC236}">
                <a16:creationId xmlns:a16="http://schemas.microsoft.com/office/drawing/2014/main" id="{D6BDEA6E-0755-41B1-8643-98863E923CBF}"/>
              </a:ext>
            </a:extLst>
          </p:cNvPr>
          <p:cNvSpPr>
            <a:spLocks xmlns:a="http://schemas.openxmlformats.org/drawingml/2006/main" noGrp="1"/>
          </p:cNvSpPr>
          <p:nvPr/>
        </p:nvSpPr>
        <p:spPr>
          <a:xfrm xmlns:a="http://schemas.openxmlformats.org/drawingml/2006/main">
            <a:off x="609600" y="3524250"/>
            <a:ext cx="1809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425" b="0">
                <a:solidFill>
                  <a:srgbClr val="616A67"/>
                </a:solidFill>
                <a:latin typeface="Avenir Next"/>
                <a:ea typeface="Avenir Next"/>
                <a:cs typeface="Avenir Next"/>
              </a:defRPr>
            </a:pPr>
            <a:r>
              <a:rPr sz="1425" b="0">
                <a:solidFill>
                  <a:srgbClr val="616A67"/>
                </a:solidFill>
                <a:latin typeface="Avenir Next"/>
                <a:ea typeface="Avenir Next"/>
                <a:cs typeface="Avenir Next"/>
              </a:rPr>
              <a:t>RGB frames</a:t>
            </a:r>
          </a:p>
          <a:p xmlns:a="http://schemas.openxmlformats.org/drawingml/2006/main">
            <a:pPr algn="l">
              <a:buNone/>
              <a:defRPr sz="1425" b="0">
                <a:solidFill>
                  <a:srgbClr val="616A67"/>
                </a:solidFill>
                <a:latin typeface="Avenir Next"/>
                <a:ea typeface="Avenir Next"/>
                <a:cs typeface="Avenir Next"/>
              </a:defRPr>
            </a:pPr>
            <a:r>
              <a:rPr sz="1425" b="0">
                <a:solidFill>
                  <a:srgbClr val="616A67"/>
                </a:solidFill>
                <a:latin typeface="Avenir Next"/>
                <a:ea typeface="Avenir Next"/>
                <a:cs typeface="Avenir Next"/>
              </a:rPr>
              <a:t>2 prior commands</a:t>
            </a:r>
          </a:p>
        </p:txBody>
      </p:sp>
      <p:sp>
        <p:nvSpPr>
          <p:cNvPr id="8" name="">
            <a:extLst xmlns:a="http://schemas.openxmlformats.org/drawingml/2006/main">
              <a:ext uri="{FF2B5EF4-FFF2-40B4-BE49-F238E27FC236}">
                <a16:creationId xmlns:a16="http://schemas.microsoft.com/office/drawing/2014/main" id="{55A4C7EC-D51B-4735-ADE5-CECEA82DF976}"/>
              </a:ext>
            </a:extLst>
          </p:cNvPr>
          <p:cNvSpPr>
            <a:spLocks xmlns:a="http://schemas.openxmlformats.org/drawingml/2006/main" noGrp="1"/>
          </p:cNvSpPr>
          <p:nvPr/>
        </p:nvSpPr>
        <p:spPr>
          <a:xfrm xmlns:a="http://schemas.openxmlformats.org/drawingml/2006/main">
            <a:off x="2533650" y="2381250"/>
            <a:ext cx="19050" cy="2000250"/>
          </a:xfrm>
          <a:prstGeom xmlns:a="http://schemas.openxmlformats.org/drawingml/2006/main" prst="rect">
            <a:avLst/>
          </a:prstGeom>
          <a:solidFill xmlns:a="http://schemas.openxmlformats.org/drawingml/2006/main">
            <a:srgbClr val="D9DDD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81AC429-A92F-4DC4-A4E0-257F1FE26797}"/>
              </a:ext>
            </a:extLst>
          </p:cNvPr>
          <p:cNvSpPr>
            <a:spLocks xmlns:a="http://schemas.openxmlformats.org/drawingml/2006/main" noGrp="1"/>
          </p:cNvSpPr>
          <p:nvPr/>
        </p:nvSpPr>
        <p:spPr>
          <a:xfrm xmlns:a="http://schemas.openxmlformats.org/drawingml/2006/main">
            <a:off x="2876550" y="22669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050" b="1">
                <a:solidFill>
                  <a:srgbClr val="8C9491"/>
                </a:solidFill>
                <a:latin typeface="Avenir Next"/>
                <a:ea typeface="Avenir Next"/>
                <a:cs typeface="Avenir Next"/>
              </a:defRPr>
            </a:pPr>
            <a:r>
              <a:rPr sz="1050" b="1">
                <a:solidFill>
                  <a:srgbClr val="8C9491"/>
                </a:solidFill>
                <a:latin typeface="Avenir Next"/>
                <a:ea typeface="Avenir Next"/>
                <a:cs typeface="Avenir Next"/>
              </a:rPr>
              <a:t>FORECAST</a:t>
            </a:r>
          </a:p>
        </p:txBody>
      </p:sp>
      <p:sp>
        <p:nvSpPr>
          <p:cNvPr id="10" name="">
            <a:extLst xmlns:a="http://schemas.openxmlformats.org/drawingml/2006/main">
              <a:ext uri="{FF2B5EF4-FFF2-40B4-BE49-F238E27FC236}">
                <a16:creationId xmlns:a16="http://schemas.microsoft.com/office/drawing/2014/main" id="{918900D5-CC85-48A1-B8D6-2A5FBD842709}"/>
              </a:ext>
            </a:extLst>
          </p:cNvPr>
          <p:cNvSpPr>
            <a:spLocks xmlns:a="http://schemas.openxmlformats.org/drawingml/2006/main" noGrp="1"/>
          </p:cNvSpPr>
          <p:nvPr/>
        </p:nvSpPr>
        <p:spPr>
          <a:xfrm xmlns:a="http://schemas.openxmlformats.org/drawingml/2006/main">
            <a:off x="2876550" y="2686050"/>
            <a:ext cx="1809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4350" b="1">
                <a:solidFill>
                  <a:srgbClr val="151918"/>
                </a:solidFill>
                <a:latin typeface="Avenir Next"/>
                <a:ea typeface="Avenir Next"/>
                <a:cs typeface="Avenir Next"/>
              </a:defRPr>
            </a:pPr>
            <a:r>
              <a:rPr sz="4350" b="1">
                <a:solidFill>
                  <a:srgbClr val="151918"/>
                </a:solidFill>
                <a:latin typeface="Avenir Next"/>
                <a:ea typeface="Avenir Next"/>
                <a:cs typeface="Avenir Next"/>
              </a:rPr>
              <a:t>384</a:t>
            </a:r>
          </a:p>
        </p:txBody>
      </p:sp>
      <p:sp>
        <p:nvSpPr>
          <p:cNvPr id="11" name="">
            <a:extLst xmlns:a="http://schemas.openxmlformats.org/drawingml/2006/main">
              <a:ext uri="{FF2B5EF4-FFF2-40B4-BE49-F238E27FC236}">
                <a16:creationId xmlns:a16="http://schemas.microsoft.com/office/drawing/2014/main" id="{489A34F7-3BA2-4D55-89A9-2257419F6436}"/>
              </a:ext>
            </a:extLst>
          </p:cNvPr>
          <p:cNvSpPr>
            <a:spLocks xmlns:a="http://schemas.openxmlformats.org/drawingml/2006/main" noGrp="1"/>
          </p:cNvSpPr>
          <p:nvPr/>
        </p:nvSpPr>
        <p:spPr>
          <a:xfrm xmlns:a="http://schemas.openxmlformats.org/drawingml/2006/main">
            <a:off x="2876550" y="3524250"/>
            <a:ext cx="1809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425" b="0">
                <a:solidFill>
                  <a:srgbClr val="616A67"/>
                </a:solidFill>
                <a:latin typeface="Avenir Next"/>
                <a:ea typeface="Avenir Next"/>
                <a:cs typeface="Avenir Next"/>
              </a:defRPr>
            </a:pPr>
            <a:r>
              <a:rPr sz="1425" b="0">
                <a:solidFill>
                  <a:srgbClr val="616A67"/>
                </a:solidFill>
                <a:latin typeface="Avenir Next"/>
                <a:ea typeface="Avenir Next"/>
                <a:cs typeface="Avenir Next"/>
              </a:rPr>
              <a:t>candidate blocks</a:t>
            </a:r>
          </a:p>
          <a:p xmlns:a="http://schemas.openxmlformats.org/drawingml/2006/main">
            <a:pPr algn="l">
              <a:buNone/>
              <a:defRPr sz="1425" b="0">
                <a:solidFill>
                  <a:srgbClr val="616A67"/>
                </a:solidFill>
                <a:latin typeface="Avenir Next"/>
                <a:ea typeface="Avenir Next"/>
                <a:cs typeface="Avenir Next"/>
              </a:defRPr>
            </a:pPr>
            <a:r>
              <a:rPr sz="1425" b="0">
                <a:solidFill>
                  <a:srgbClr val="616A67"/>
                </a:solidFill>
                <a:latin typeface="Avenir Next"/>
                <a:ea typeface="Avenir Next"/>
                <a:cs typeface="Avenir Next"/>
              </a:rPr>
              <a:t>scored each cycle</a:t>
            </a:r>
          </a:p>
        </p:txBody>
      </p:sp>
      <p:sp>
        <p:nvSpPr>
          <p:cNvPr id="12" name="">
            <a:extLst xmlns:a="http://schemas.openxmlformats.org/drawingml/2006/main">
              <a:ext uri="{FF2B5EF4-FFF2-40B4-BE49-F238E27FC236}">
                <a16:creationId xmlns:a16="http://schemas.microsoft.com/office/drawing/2014/main" id="{ECE62A61-32F2-4DF7-9FFC-14D5764C4F3B}"/>
              </a:ext>
            </a:extLst>
          </p:cNvPr>
          <p:cNvSpPr>
            <a:spLocks xmlns:a="http://schemas.openxmlformats.org/drawingml/2006/main" noGrp="1"/>
          </p:cNvSpPr>
          <p:nvPr/>
        </p:nvSpPr>
        <p:spPr>
          <a:xfrm xmlns:a="http://schemas.openxmlformats.org/drawingml/2006/main">
            <a:off x="4800600" y="2381250"/>
            <a:ext cx="19050" cy="2000250"/>
          </a:xfrm>
          <a:prstGeom xmlns:a="http://schemas.openxmlformats.org/drawingml/2006/main" prst="rect">
            <a:avLst/>
          </a:prstGeom>
          <a:solidFill xmlns:a="http://schemas.openxmlformats.org/drawingml/2006/main">
            <a:srgbClr val="D9DDD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A7AFF82-567F-49B4-8CD6-5C4645CFA477}"/>
              </a:ext>
            </a:extLst>
          </p:cNvPr>
          <p:cNvSpPr>
            <a:spLocks xmlns:a="http://schemas.openxmlformats.org/drawingml/2006/main" noGrp="1"/>
          </p:cNvSpPr>
          <p:nvPr/>
        </p:nvSpPr>
        <p:spPr>
          <a:xfrm xmlns:a="http://schemas.openxmlformats.org/drawingml/2006/main">
            <a:off x="5143500" y="22669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050" b="1">
                <a:solidFill>
                  <a:srgbClr val="8C9491"/>
                </a:solidFill>
                <a:latin typeface="Avenir Next"/>
                <a:ea typeface="Avenir Next"/>
                <a:cs typeface="Avenir Next"/>
              </a:defRPr>
            </a:pPr>
            <a:r>
              <a:rPr sz="1050" b="1">
                <a:solidFill>
                  <a:srgbClr val="8C9491"/>
                </a:solidFill>
                <a:latin typeface="Avenir Next"/>
                <a:ea typeface="Avenir Next"/>
                <a:cs typeface="Avenir Next"/>
              </a:rPr>
              <a:t>SCORE</a:t>
            </a:r>
          </a:p>
        </p:txBody>
      </p:sp>
      <p:sp>
        <p:nvSpPr>
          <p:cNvPr id="14" name="">
            <a:extLst xmlns:a="http://schemas.openxmlformats.org/drawingml/2006/main">
              <a:ext uri="{FF2B5EF4-FFF2-40B4-BE49-F238E27FC236}">
                <a16:creationId xmlns:a16="http://schemas.microsoft.com/office/drawing/2014/main" id="{7E876F42-CF32-43E0-BDB1-A546F0336209}"/>
              </a:ext>
            </a:extLst>
          </p:cNvPr>
          <p:cNvSpPr>
            <a:spLocks xmlns:a="http://schemas.openxmlformats.org/drawingml/2006/main" noGrp="1"/>
          </p:cNvSpPr>
          <p:nvPr/>
        </p:nvSpPr>
        <p:spPr>
          <a:xfrm xmlns:a="http://schemas.openxmlformats.org/drawingml/2006/main">
            <a:off x="5143500" y="2686050"/>
            <a:ext cx="1809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4350" b="1">
                <a:solidFill>
                  <a:srgbClr val="151918"/>
                </a:solidFill>
                <a:latin typeface="Avenir Next"/>
                <a:ea typeface="Avenir Next"/>
                <a:cs typeface="Avenir Next"/>
              </a:defRPr>
            </a:pPr>
            <a:r>
              <a:rPr sz="4350" b="1">
                <a:solidFill>
                  <a:srgbClr val="151918"/>
                </a:solidFill>
                <a:latin typeface="Avenir Next"/>
                <a:ea typeface="Avenir Next"/>
                <a:cs typeface="Avenir Next"/>
              </a:rPr>
              <a:t>64</a:t>
            </a:r>
          </a:p>
        </p:txBody>
      </p:sp>
      <p:sp>
        <p:nvSpPr>
          <p:cNvPr id="15" name="">
            <a:extLst xmlns:a="http://schemas.openxmlformats.org/drawingml/2006/main">
              <a:ext uri="{FF2B5EF4-FFF2-40B4-BE49-F238E27FC236}">
                <a16:creationId xmlns:a16="http://schemas.microsoft.com/office/drawing/2014/main" id="{D97B6943-4074-44BB-88AC-89E384FBDB0D}"/>
              </a:ext>
            </a:extLst>
          </p:cNvPr>
          <p:cNvSpPr>
            <a:spLocks xmlns:a="http://schemas.openxmlformats.org/drawingml/2006/main" noGrp="1"/>
          </p:cNvSpPr>
          <p:nvPr/>
        </p:nvSpPr>
        <p:spPr>
          <a:xfrm xmlns:a="http://schemas.openxmlformats.org/drawingml/2006/main">
            <a:off x="5143500" y="3524250"/>
            <a:ext cx="1809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425" b="0">
                <a:solidFill>
                  <a:srgbClr val="616A67"/>
                </a:solidFill>
                <a:latin typeface="Avenir Next"/>
                <a:ea typeface="Avenir Next"/>
                <a:cs typeface="Avenir Next"/>
              </a:defRPr>
            </a:pPr>
            <a:r>
              <a:rPr sz="1425" b="0">
                <a:solidFill>
                  <a:srgbClr val="616A67"/>
                </a:solidFill>
                <a:latin typeface="Avenir Next"/>
                <a:ea typeface="Avenir Next"/>
                <a:cs typeface="Avenir Next"/>
              </a:rPr>
              <a:t>candidate</a:t>
            </a:r>
          </a:p>
          <a:p xmlns:a="http://schemas.openxmlformats.org/drawingml/2006/main">
            <a:pPr algn="l">
              <a:buNone/>
              <a:defRPr sz="1425" b="0">
                <a:solidFill>
                  <a:srgbClr val="616A67"/>
                </a:solidFill>
                <a:latin typeface="Avenir Next"/>
                <a:ea typeface="Avenir Next"/>
                <a:cs typeface="Avenir Next"/>
              </a:defRPr>
            </a:pPr>
            <a:r>
              <a:rPr sz="1425" b="0">
                <a:solidFill>
                  <a:srgbClr val="616A67"/>
                </a:solidFill>
                <a:latin typeface="Avenir Next"/>
                <a:ea typeface="Avenir Next"/>
                <a:cs typeface="Avenir Next"/>
              </a:rPr>
              <a:t>sequences</a:t>
            </a:r>
          </a:p>
        </p:txBody>
      </p:sp>
      <p:sp>
        <p:nvSpPr>
          <p:cNvPr id="16" name="">
            <a:extLst xmlns:a="http://schemas.openxmlformats.org/drawingml/2006/main">
              <a:ext uri="{FF2B5EF4-FFF2-40B4-BE49-F238E27FC236}">
                <a16:creationId xmlns:a16="http://schemas.microsoft.com/office/drawing/2014/main" id="{61905D3F-1A4F-4D14-9303-45AEC060D67E}"/>
              </a:ext>
            </a:extLst>
          </p:cNvPr>
          <p:cNvSpPr>
            <a:spLocks xmlns:a="http://schemas.openxmlformats.org/drawingml/2006/main" noGrp="1"/>
          </p:cNvSpPr>
          <p:nvPr/>
        </p:nvSpPr>
        <p:spPr>
          <a:xfrm xmlns:a="http://schemas.openxmlformats.org/drawingml/2006/main">
            <a:off x="7067550" y="2381250"/>
            <a:ext cx="19050" cy="2000250"/>
          </a:xfrm>
          <a:prstGeom xmlns:a="http://schemas.openxmlformats.org/drawingml/2006/main" prst="rect">
            <a:avLst/>
          </a:prstGeom>
          <a:solidFill xmlns:a="http://schemas.openxmlformats.org/drawingml/2006/main">
            <a:srgbClr val="D9DDD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FAC6A03-0348-4A8F-8394-870CC8A63A23}"/>
              </a:ext>
            </a:extLst>
          </p:cNvPr>
          <p:cNvSpPr>
            <a:spLocks xmlns:a="http://schemas.openxmlformats.org/drawingml/2006/main" noGrp="1"/>
          </p:cNvSpPr>
          <p:nvPr/>
        </p:nvSpPr>
        <p:spPr>
          <a:xfrm xmlns:a="http://schemas.openxmlformats.org/drawingml/2006/main">
            <a:off x="7410450" y="2266950"/>
            <a:ext cx="1809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050" b="1">
                <a:solidFill>
                  <a:srgbClr val="177A5A"/>
                </a:solidFill>
                <a:latin typeface="Avenir Next"/>
                <a:ea typeface="Avenir Next"/>
                <a:cs typeface="Avenir Next"/>
              </a:defRPr>
            </a:pPr>
            <a:r>
              <a:rPr sz="1050" b="1">
                <a:solidFill>
                  <a:srgbClr val="177A5A"/>
                </a:solidFill>
                <a:latin typeface="Avenir Next"/>
                <a:ea typeface="Avenir Next"/>
                <a:cs typeface="Avenir Next"/>
              </a:rPr>
              <a:t>EXECUTE</a:t>
            </a:r>
          </a:p>
        </p:txBody>
      </p:sp>
      <p:sp>
        <p:nvSpPr>
          <p:cNvPr id="18" name="">
            <a:extLst xmlns:a="http://schemas.openxmlformats.org/drawingml/2006/main">
              <a:ext uri="{FF2B5EF4-FFF2-40B4-BE49-F238E27FC236}">
                <a16:creationId xmlns:a16="http://schemas.microsoft.com/office/drawing/2014/main" id="{AAD3A558-6EE4-42A0-8423-2701CB0BCFA8}"/>
              </a:ext>
            </a:extLst>
          </p:cNvPr>
          <p:cNvSpPr>
            <a:spLocks xmlns:a="http://schemas.openxmlformats.org/drawingml/2006/main" noGrp="1"/>
          </p:cNvSpPr>
          <p:nvPr/>
        </p:nvSpPr>
        <p:spPr>
          <a:xfrm xmlns:a="http://schemas.openxmlformats.org/drawingml/2006/main">
            <a:off x="7410450" y="2686050"/>
            <a:ext cx="1809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3825" b="1">
                <a:solidFill>
                  <a:srgbClr val="177A5A"/>
                </a:solidFill>
                <a:latin typeface="Avenir Next"/>
                <a:ea typeface="Avenir Next"/>
                <a:cs typeface="Avenir Next"/>
              </a:defRPr>
            </a:pPr>
            <a:r>
              <a:rPr sz="3825" b="1">
                <a:solidFill>
                  <a:srgbClr val="177A5A"/>
                </a:solidFill>
                <a:latin typeface="Avenir Next"/>
                <a:ea typeface="Avenir Next"/>
                <a:cs typeface="Avenir Next"/>
              </a:rPr>
              <a:t>0.5 s</a:t>
            </a:r>
          </a:p>
        </p:txBody>
      </p:sp>
      <p:sp>
        <p:nvSpPr>
          <p:cNvPr id="19" name="">
            <a:extLst xmlns:a="http://schemas.openxmlformats.org/drawingml/2006/main">
              <a:ext uri="{FF2B5EF4-FFF2-40B4-BE49-F238E27FC236}">
                <a16:creationId xmlns:a16="http://schemas.microsoft.com/office/drawing/2014/main" id="{0B42046E-CDD7-4DAD-9CDF-5526AFFD325C}"/>
              </a:ext>
            </a:extLst>
          </p:cNvPr>
          <p:cNvSpPr>
            <a:spLocks xmlns:a="http://schemas.openxmlformats.org/drawingml/2006/main" noGrp="1"/>
          </p:cNvSpPr>
          <p:nvPr/>
        </p:nvSpPr>
        <p:spPr>
          <a:xfrm xmlns:a="http://schemas.openxmlformats.org/drawingml/2006/main">
            <a:off x="7410450" y="3524250"/>
            <a:ext cx="1809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425" b="0">
                <a:solidFill>
                  <a:srgbClr val="616A67"/>
                </a:solidFill>
                <a:latin typeface="Avenir Next"/>
                <a:ea typeface="Avenir Next"/>
                <a:cs typeface="Avenir Next"/>
              </a:defRPr>
            </a:pPr>
            <a:r>
              <a:rPr sz="1425" b="0">
                <a:solidFill>
                  <a:srgbClr val="616A67"/>
                </a:solidFill>
                <a:latin typeface="Avenir Next"/>
                <a:ea typeface="Avenir Next"/>
                <a:cs typeface="Avenir Next"/>
              </a:rPr>
              <a:t>first block</a:t>
            </a:r>
          </a:p>
          <a:p xmlns:a="http://schemas.openxmlformats.org/drawingml/2006/main">
            <a:pPr algn="l">
              <a:buNone/>
              <a:defRPr sz="1425" b="0">
                <a:solidFill>
                  <a:srgbClr val="616A67"/>
                </a:solidFill>
                <a:latin typeface="Avenir Next"/>
                <a:ea typeface="Avenir Next"/>
                <a:cs typeface="Avenir Next"/>
              </a:defRPr>
            </a:pPr>
            <a:r>
              <a:rPr sz="1425" b="0">
                <a:solidFill>
                  <a:srgbClr val="616A67"/>
                </a:solidFill>
                <a:latin typeface="Avenir Next"/>
                <a:ea typeface="Avenir Next"/>
                <a:cs typeface="Avenir Next"/>
              </a:rPr>
              <a:t>only</a:t>
            </a:r>
          </a:p>
        </p:txBody>
      </p:sp>
      <p:sp>
        <p:nvSpPr>
          <p:cNvPr id="20" name="">
            <a:extLst xmlns:a="http://schemas.openxmlformats.org/drawingml/2006/main">
              <a:ext uri="{FF2B5EF4-FFF2-40B4-BE49-F238E27FC236}">
                <a16:creationId xmlns:a16="http://schemas.microsoft.com/office/drawing/2014/main" id="{62F0A383-953A-4506-B92E-80A81D51322E}"/>
              </a:ext>
            </a:extLst>
          </p:cNvPr>
          <p:cNvSpPr>
            <a:spLocks xmlns:a="http://schemas.openxmlformats.org/drawingml/2006/main" noGrp="1"/>
          </p:cNvSpPr>
          <p:nvPr/>
        </p:nvSpPr>
        <p:spPr>
          <a:xfrm xmlns:a="http://schemas.openxmlformats.org/drawingml/2006/main">
            <a:off x="9334500" y="2381250"/>
            <a:ext cx="19050" cy="2000250"/>
          </a:xfrm>
          <a:prstGeom xmlns:a="http://schemas.openxmlformats.org/drawingml/2006/main" prst="rect">
            <a:avLst/>
          </a:prstGeom>
          <a:solidFill xmlns:a="http://schemas.openxmlformats.org/drawingml/2006/main">
            <a:srgbClr val="D9DDD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E9D4EAC-B3FD-44A0-93CE-08C8EDDF57C0}"/>
              </a:ext>
            </a:extLst>
          </p:cNvPr>
          <p:cNvSpPr>
            <a:spLocks xmlns:a="http://schemas.openxmlformats.org/drawingml/2006/main" noGrp="1"/>
          </p:cNvSpPr>
          <p:nvPr/>
        </p:nvSpPr>
        <p:spPr>
          <a:xfrm xmlns:a="http://schemas.openxmlformats.org/drawingml/2006/main">
            <a:off x="9677400" y="22669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050" b="1">
                <a:solidFill>
                  <a:srgbClr val="8C9491"/>
                </a:solidFill>
                <a:latin typeface="Avenir Next"/>
                <a:ea typeface="Avenir Next"/>
                <a:cs typeface="Avenir Next"/>
              </a:defRPr>
            </a:pPr>
            <a:r>
              <a:rPr sz="1050" b="1">
                <a:solidFill>
                  <a:srgbClr val="8C9491"/>
                </a:solidFill>
                <a:latin typeface="Avenir Next"/>
                <a:ea typeface="Avenir Next"/>
                <a:cs typeface="Avenir Next"/>
              </a:rPr>
              <a:t>CHECK</a:t>
            </a:r>
          </a:p>
        </p:txBody>
      </p:sp>
      <p:sp>
        <p:nvSpPr>
          <p:cNvPr id="22" name="">
            <a:extLst xmlns:a="http://schemas.openxmlformats.org/drawingml/2006/main">
              <a:ext uri="{FF2B5EF4-FFF2-40B4-BE49-F238E27FC236}">
                <a16:creationId xmlns:a16="http://schemas.microsoft.com/office/drawing/2014/main" id="{2696EF9D-A37D-4391-B673-552B394A1BCA}"/>
              </a:ext>
            </a:extLst>
          </p:cNvPr>
          <p:cNvSpPr>
            <a:spLocks xmlns:a="http://schemas.openxmlformats.org/drawingml/2006/main" noGrp="1"/>
          </p:cNvSpPr>
          <p:nvPr/>
        </p:nvSpPr>
        <p:spPr>
          <a:xfrm xmlns:a="http://schemas.openxmlformats.org/drawingml/2006/main">
            <a:off x="9677400" y="2686050"/>
            <a:ext cx="1905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4350" b="1">
                <a:solidFill>
                  <a:srgbClr val="151918"/>
                </a:solidFill>
                <a:latin typeface="Avenir Next"/>
                <a:ea typeface="Avenir Next"/>
                <a:cs typeface="Avenir Next"/>
              </a:defRPr>
            </a:pPr>
            <a:r>
              <a:rPr sz="4350" b="1">
                <a:solidFill>
                  <a:srgbClr val="151918"/>
                </a:solidFill>
                <a:latin typeface="Avenir Next"/>
                <a:ea typeface="Avenir Next"/>
                <a:cs typeface="Avenir Next"/>
              </a:rPr>
              <a:t>1</a:t>
            </a:r>
          </a:p>
        </p:txBody>
      </p:sp>
      <p:sp>
        <p:nvSpPr>
          <p:cNvPr id="23" name="">
            <a:extLst xmlns:a="http://schemas.openxmlformats.org/drawingml/2006/main">
              <a:ext uri="{FF2B5EF4-FFF2-40B4-BE49-F238E27FC236}">
                <a16:creationId xmlns:a16="http://schemas.microsoft.com/office/drawing/2014/main" id="{0E96D6F1-324B-46EF-96B3-CA9A64FC7938}"/>
              </a:ext>
            </a:extLst>
          </p:cNvPr>
          <p:cNvSpPr>
            <a:spLocks xmlns:a="http://schemas.openxmlformats.org/drawingml/2006/main" noGrp="1"/>
          </p:cNvSpPr>
          <p:nvPr/>
        </p:nvSpPr>
        <p:spPr>
          <a:xfrm xmlns:a="http://schemas.openxmlformats.org/drawingml/2006/main">
            <a:off x="9677400" y="3524250"/>
            <a:ext cx="1905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425" b="0">
                <a:solidFill>
                  <a:srgbClr val="616A67"/>
                </a:solidFill>
                <a:latin typeface="Avenir Next"/>
                <a:ea typeface="Avenir Next"/>
                <a:cs typeface="Avenir Next"/>
              </a:defRPr>
            </a:pPr>
            <a:r>
              <a:rPr sz="1425" b="0">
                <a:solidFill>
                  <a:srgbClr val="616A67"/>
                </a:solidFill>
                <a:latin typeface="Avenir Next"/>
                <a:ea typeface="Avenir Next"/>
                <a:cs typeface="Avenir Next"/>
              </a:rPr>
              <a:t>new observation</a:t>
            </a:r>
          </a:p>
          <a:p xmlns:a="http://schemas.openxmlformats.org/drawingml/2006/main">
            <a:pPr algn="l">
              <a:buNone/>
              <a:defRPr sz="1425" b="0">
                <a:solidFill>
                  <a:srgbClr val="616A67"/>
                </a:solidFill>
                <a:latin typeface="Avenir Next"/>
                <a:ea typeface="Avenir Next"/>
                <a:cs typeface="Avenir Next"/>
              </a:defRPr>
            </a:pPr>
            <a:r>
              <a:rPr sz="1425" b="0">
                <a:solidFill>
                  <a:srgbClr val="616A67"/>
                </a:solidFill>
                <a:latin typeface="Avenir Next"/>
                <a:ea typeface="Avenir Next"/>
                <a:cs typeface="Avenir Next"/>
              </a:rPr>
              <a:t>starts next cycle</a:t>
            </a:r>
          </a:p>
        </p:txBody>
      </p:sp>
      <p:sp>
        <p:nvSpPr>
          <p:cNvPr id="24" name="">
            <a:extLst xmlns:a="http://schemas.openxmlformats.org/drawingml/2006/main">
              <a:ext uri="{FF2B5EF4-FFF2-40B4-BE49-F238E27FC236}">
                <a16:creationId xmlns:a16="http://schemas.microsoft.com/office/drawing/2014/main" id="{AC345BB3-482E-4995-B8E5-2BF1E58EFF98}"/>
              </a:ext>
            </a:extLst>
          </p:cNvPr>
          <p:cNvSpPr>
            <a:spLocks xmlns:a="http://schemas.openxmlformats.org/drawingml/2006/main" noGrp="1"/>
          </p:cNvSpPr>
          <p:nvPr/>
        </p:nvSpPr>
        <p:spPr>
          <a:xfrm xmlns:a="http://schemas.openxmlformats.org/drawingml/2006/main">
            <a:off x="609600" y="4762500"/>
            <a:ext cx="10972800" cy="9525"/>
          </a:xfrm>
          <a:prstGeom xmlns:a="http://schemas.openxmlformats.org/drawingml/2006/main" prst="rect">
            <a:avLst/>
          </a:prstGeom>
          <a:solidFill xmlns:a="http://schemas.openxmlformats.org/drawingml/2006/main">
            <a:srgbClr val="D9DDD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D4C58CED-2D2F-422A-9804-889748A8020E}"/>
              </a:ext>
            </a:extLst>
          </p:cNvPr>
          <p:cNvSpPr>
            <a:spLocks xmlns:a="http://schemas.openxmlformats.org/drawingml/2006/main" noGrp="1"/>
          </p:cNvSpPr>
          <p:nvPr/>
        </p:nvSpPr>
        <p:spPr>
          <a:xfrm xmlns:a="http://schemas.openxmlformats.org/drawingml/2006/main">
            <a:off x="609600" y="5105400"/>
            <a:ext cx="209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050" b="1">
                <a:solidFill>
                  <a:srgbClr val="177A5A"/>
                </a:solidFill>
                <a:latin typeface="Avenir Next"/>
                <a:ea typeface="Avenir Next"/>
                <a:cs typeface="Avenir Next"/>
              </a:defRPr>
            </a:pPr>
            <a:r>
              <a:rPr sz="1050" b="1">
                <a:solidFill>
                  <a:srgbClr val="177A5A"/>
                </a:solidFill>
                <a:latin typeface="Avenir Next"/>
                <a:ea typeface="Avenir Next"/>
                <a:cs typeface="Avenir Next"/>
              </a:rPr>
              <a:t>CURRENT DEMO</a:t>
            </a:r>
          </a:p>
        </p:txBody>
      </p:sp>
      <p:sp>
        <p:nvSpPr>
          <p:cNvPr id="26" name="">
            <a:extLst xmlns:a="http://schemas.openxmlformats.org/drawingml/2006/main">
              <a:ext uri="{FF2B5EF4-FFF2-40B4-BE49-F238E27FC236}">
                <a16:creationId xmlns:a16="http://schemas.microsoft.com/office/drawing/2014/main" id="{37723931-92B9-4DDB-9E6E-CC1A97CE905A}"/>
              </a:ext>
            </a:extLst>
          </p:cNvPr>
          <p:cNvSpPr>
            <a:spLocks xmlns:a="http://schemas.openxmlformats.org/drawingml/2006/main" noGrp="1"/>
          </p:cNvSpPr>
          <p:nvPr/>
        </p:nvSpPr>
        <p:spPr>
          <a:xfrm xmlns:a="http://schemas.openxmlformats.org/drawingml/2006/main">
            <a:off x="609600" y="5429250"/>
            <a:ext cx="514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725" b="1">
                <a:solidFill>
                  <a:srgbClr val="151918"/>
                </a:solidFill>
                <a:latin typeface="Avenir Next"/>
                <a:ea typeface="Avenir Next"/>
                <a:cs typeface="Avenir Next"/>
              </a:defRPr>
            </a:pPr>
            <a:r>
              <a:rPr sz="1725" b="1">
                <a:solidFill>
                  <a:srgbClr val="151918"/>
                </a:solidFill>
                <a:latin typeface="Avenir Next"/>
                <a:ea typeface="Avenir Next"/>
                <a:cs typeface="Avenir Next"/>
              </a:rPr>
              <a:t>Planner cadence: 3 RGB frames, 2 prior commands, and a goal.</a:t>
            </a:r>
          </a:p>
        </p:txBody>
      </p:sp>
      <p:sp>
        <p:nvSpPr>
          <p:cNvPr id="27" name="">
            <a:extLst xmlns:a="http://schemas.openxmlformats.org/drawingml/2006/main">
              <a:ext uri="{FF2B5EF4-FFF2-40B4-BE49-F238E27FC236}">
                <a16:creationId xmlns:a16="http://schemas.microsoft.com/office/drawing/2014/main" id="{01CAD5F3-2C96-42C1-BBB6-F3DD0DE793F6}"/>
              </a:ext>
            </a:extLst>
          </p:cNvPr>
          <p:cNvSpPr>
            <a:spLocks xmlns:a="http://schemas.openxmlformats.org/drawingml/2006/main" noGrp="1"/>
          </p:cNvSpPr>
          <p:nvPr/>
        </p:nvSpPr>
        <p:spPr>
          <a:xfrm xmlns:a="http://schemas.openxmlformats.org/drawingml/2006/main">
            <a:off x="6191250" y="5429250"/>
            <a:ext cx="5391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650" b="0">
                <a:solidFill>
                  <a:srgbClr val="616A67"/>
                </a:solidFill>
                <a:latin typeface="Avenir Next"/>
                <a:ea typeface="Avenir Next"/>
                <a:cs typeface="Avenir Next"/>
              </a:defRPr>
            </a:pPr>
            <a:r>
              <a:rPr sz="1650" b="0">
                <a:solidFill>
                  <a:srgbClr val="616A67"/>
                </a:solidFill>
                <a:latin typeface="Avenir Next"/>
                <a:ea typeface="Avenir Next"/>
                <a:cs typeface="Avenir Next"/>
              </a:rPr>
              <a:t>Current reference predictor additionally reads simulator pose; learned LeWM is disabled.</a:t>
            </a:r>
          </a:p>
        </p:txBody>
      </p:sp>
    </p:spTree>
    <p:extLst>
      <p:ext uri="{BB962C8B-B14F-4D97-AF65-F5344CB8AC3E}">
        <p14:creationId xmlns:p14="http://schemas.microsoft.com/office/powerpoint/2010/main" val="622465629"/>
      </p:ext>
    </p:extLst>
  </p:cSld>
</p:sld>
</file>

<file path=ppt/slides/slide5.xml><?xml version="1.0" encoding="utf-8"?>
<p:sld xmlns:p="http://schemas.openxmlformats.org/presentationml/2006/main">
  <p:cSld>
    <p:bg>
      <p:bgPr>
        <a:solidFill xmlns:a="http://schemas.openxmlformats.org/drawingml/2006/main">
          <a:srgbClr val="FCFBF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2ED30AD-3C00-4B2B-BAD6-B02E3F6676F5}"/>
              </a:ext>
            </a:extLst>
          </p:cNvPr>
          <p:cNvSpPr>
            <a:spLocks xmlns:a="http://schemas.openxmlformats.org/drawingml/2006/main" noGrp="1"/>
          </p:cNvSpPr>
          <p:nvPr/>
        </p:nvSpPr>
        <p:spPr>
          <a:xfrm xmlns:a="http://schemas.openxmlformats.org/drawingml/2006/main">
            <a:off x="609600" y="381000"/>
            <a:ext cx="9906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250" b="1">
                <a:solidFill>
                  <a:srgbClr val="142735"/>
                </a:solidFill>
                <a:latin typeface="Avenir Next"/>
                <a:ea typeface="Avenir Next"/>
                <a:cs typeface="Avenir Next"/>
              </a:defRPr>
            </a:pPr>
            <a:r>
              <a:rPr sz="2250" b="1">
                <a:solidFill>
                  <a:srgbClr val="142735"/>
                </a:solidFill>
                <a:latin typeface="Avenir Next"/>
                <a:ea typeface="Avenir Next"/>
                <a:cs typeface="Avenir Next"/>
              </a:rPr>
              <a:t>Retained evidence, not demo theater.</a:t>
            </a:r>
          </a:p>
        </p:txBody>
      </p:sp>
      <p:sp>
        <p:nvSpPr>
          <p:cNvPr id="2" name="">
            <a:extLst xmlns:a="http://schemas.openxmlformats.org/drawingml/2006/main">
              <a:ext uri="{FF2B5EF4-FFF2-40B4-BE49-F238E27FC236}">
                <a16:creationId xmlns:a16="http://schemas.microsoft.com/office/drawing/2014/main" id="{43E35147-67E3-4C4C-A0CA-14CC4602ACC6}"/>
              </a:ext>
            </a:extLst>
          </p:cNvPr>
          <p:cNvSpPr>
            <a:spLocks xmlns:a="http://schemas.openxmlformats.org/drawingml/2006/main" noGrp="1"/>
          </p:cNvSpPr>
          <p:nvPr/>
        </p:nvSpPr>
        <p:spPr>
          <a:xfrm xmlns:a="http://schemas.openxmlformats.org/drawingml/2006/main">
            <a:off x="10972800" y="4762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r">
              <a:defRPr sz="1050" b="0">
                <a:solidFill>
                  <a:srgbClr val="5B6770"/>
                </a:solidFill>
                <a:latin typeface="Avenir Next"/>
                <a:ea typeface="Avenir Next"/>
                <a:cs typeface="Avenir Next"/>
              </a:defRPr>
            </a:pPr>
            <a:r>
              <a:rPr sz="1050" b="0">
                <a:solidFill>
                  <a:srgbClr val="5B6770"/>
                </a:solidFill>
                <a:latin typeface="Avenir Next"/>
                <a:ea typeface="Avenir Next"/>
                <a:cs typeface="Avenir Next"/>
              </a:rPr>
              <a:t>05</a:t>
            </a:r>
          </a:p>
        </p:txBody>
      </p:sp>
      <p:sp>
        <p:nvSpPr>
          <p:cNvPr id="3" name="">
            <a:extLst xmlns:a="http://schemas.openxmlformats.org/drawingml/2006/main">
              <a:ext uri="{FF2B5EF4-FFF2-40B4-BE49-F238E27FC236}">
                <a16:creationId xmlns:a16="http://schemas.microsoft.com/office/drawing/2014/main" id="{DA52E6BD-6D3B-4290-9C6E-E1EE65B81BF2}"/>
              </a:ext>
            </a:extLst>
          </p:cNvPr>
          <p:cNvSpPr>
            <a:spLocks xmlns:a="http://schemas.openxmlformats.org/drawingml/2006/main" noGrp="1"/>
          </p:cNvSpPr>
          <p:nvPr/>
        </p:nvSpPr>
        <p:spPr>
          <a:xfrm xmlns:a="http://schemas.openxmlformats.org/drawingml/2006/main">
            <a:off x="609600" y="1104900"/>
            <a:ext cx="10972800" cy="9525"/>
          </a:xfrm>
          <a:prstGeom xmlns:a="http://schemas.openxmlformats.org/drawingml/2006/main" prst="rect">
            <a:avLst/>
          </a:prstGeom>
          <a:solidFill xmlns:a="http://schemas.openxmlformats.org/drawingml/2006/main">
            <a:srgbClr val="D6D9D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DEDE6B2-6CFC-47D3-A86B-1DB8C8BE230F}"/>
              </a:ext>
            </a:extLst>
          </p:cNvPr>
          <p:cNvSpPr>
            <a:spLocks xmlns:a="http://schemas.openxmlformats.org/drawingml/2006/main" noGrp="1"/>
          </p:cNvSpPr>
          <p:nvPr/>
        </p:nvSpPr>
        <p:spPr>
          <a:xfrm xmlns:a="http://schemas.openxmlformats.org/drawingml/2006/main">
            <a:off x="609600" y="12573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B6770"/>
                </a:solidFill>
                <a:latin typeface="Avenir Next"/>
                <a:ea typeface="Avenir Next"/>
                <a:cs typeface="Avenir Next"/>
              </a:defRPr>
            </a:pPr>
            <a:r>
              <a:rPr sz="1350" b="0">
                <a:solidFill>
                  <a:srgbClr val="5B6770"/>
                </a:solidFill>
                <a:latin typeface="Avenir Next"/>
                <a:ea typeface="Avenir Next"/>
                <a:cs typeface="Avenir Next"/>
              </a:rPr>
              <a:t>Every number below is tied to a saved run packet or executable gate.</a:t>
            </a:r>
          </a:p>
        </p:txBody>
      </p:sp>
      <p:sp>
        <p:nvSpPr>
          <p:cNvPr id="5" name="">
            <a:extLst xmlns:a="http://schemas.openxmlformats.org/drawingml/2006/main">
              <a:ext uri="{FF2B5EF4-FFF2-40B4-BE49-F238E27FC236}">
                <a16:creationId xmlns:a16="http://schemas.microsoft.com/office/drawing/2014/main" id="{F323B4D6-A3A3-47C0-AAD5-0A95C89E9127}"/>
              </a:ext>
            </a:extLst>
          </p:cNvPr>
          <p:cNvSpPr>
            <a:spLocks xmlns:a="http://schemas.openxmlformats.org/drawingml/2006/main" noGrp="1"/>
          </p:cNvSpPr>
          <p:nvPr/>
        </p:nvSpPr>
        <p:spPr>
          <a:xfrm xmlns:a="http://schemas.openxmlformats.org/drawingml/2006/main">
            <a:off x="457200" y="1619250"/>
            <a:ext cx="11277600" cy="41148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F0A4780-01DE-49C8-87EF-79937F909EA8}"/>
              </a:ext>
            </a:extLst>
          </p:cNvPr>
          <p:cNvSpPr>
            <a:spLocks xmlns:a="http://schemas.openxmlformats.org/drawingml/2006/main" noGrp="1"/>
          </p:cNvSpPr>
          <p:nvPr/>
        </p:nvSpPr>
        <p:spPr>
          <a:xfrm xmlns:a="http://schemas.openxmlformats.org/drawingml/2006/main">
            <a:off x="609600" y="1885950"/>
            <a:ext cx="3200400" cy="2724150"/>
          </a:xfrm>
          <a:prstGeom xmlns:a="http://schemas.openxmlformats.org/drawingml/2006/main" prst="roundRect">
            <a:avLst>
              <a:gd name="adj" fmla="val 2797"/>
            </a:avLst>
          </a:prstGeom>
          <a:solidFill xmlns:a="http://schemas.openxmlformats.org/drawingml/2006/main">
            <a:srgbClr val="E6F1FA"/>
          </a:solidFill>
          <a:ln xmlns:a="http://schemas.openxmlformats.org/drawingml/2006/main" w="14288">
            <a:solidFill>
              <a:srgbClr val="1769AA"/>
            </a:solidFill>
            <a:prstDash val="solid"/>
          </a:ln>
        </p:spPr>
      </p:sp>
      <p:sp>
        <p:nvSpPr>
          <p:cNvPr id="7" name="">
            <a:extLst xmlns:a="http://schemas.openxmlformats.org/drawingml/2006/main">
              <a:ext uri="{FF2B5EF4-FFF2-40B4-BE49-F238E27FC236}">
                <a16:creationId xmlns:a16="http://schemas.microsoft.com/office/drawing/2014/main" id="{7C2084F3-E1BE-4C7D-8E63-2340130AC672}"/>
              </a:ext>
            </a:extLst>
          </p:cNvPr>
          <p:cNvSpPr>
            <a:spLocks xmlns:a="http://schemas.openxmlformats.org/drawingml/2006/main" noGrp="1"/>
          </p:cNvSpPr>
          <p:nvPr/>
        </p:nvSpPr>
        <p:spPr>
          <a:xfrm xmlns:a="http://schemas.openxmlformats.org/drawingml/2006/main">
            <a:off x="819150" y="2076450"/>
            <a:ext cx="2781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769AA"/>
                </a:solidFill>
                <a:latin typeface="Avenir Next"/>
                <a:ea typeface="Avenir Next"/>
                <a:cs typeface="Avenir Next"/>
              </a:defRPr>
            </a:pPr>
            <a:r>
              <a:rPr sz="1050" b="1">
                <a:solidFill>
                  <a:srgbClr val="1769AA"/>
                </a:solidFill>
                <a:latin typeface="Avenir Next"/>
                <a:ea typeface="Avenir Next"/>
                <a:cs typeface="Avenir Next"/>
              </a:rPr>
              <a:t>G0 · PHYSICS</a:t>
            </a:r>
          </a:p>
        </p:txBody>
      </p:sp>
      <p:sp>
        <p:nvSpPr>
          <p:cNvPr id="8" name="">
            <a:extLst xmlns:a="http://schemas.openxmlformats.org/drawingml/2006/main">
              <a:ext uri="{FF2B5EF4-FFF2-40B4-BE49-F238E27FC236}">
                <a16:creationId xmlns:a16="http://schemas.microsoft.com/office/drawing/2014/main" id="{85D6A50D-944C-41EE-B609-5248195F65F3}"/>
              </a:ext>
            </a:extLst>
          </p:cNvPr>
          <p:cNvSpPr>
            <a:spLocks xmlns:a="http://schemas.openxmlformats.org/drawingml/2006/main" noGrp="1"/>
          </p:cNvSpPr>
          <p:nvPr/>
        </p:nvSpPr>
        <p:spPr>
          <a:xfrm xmlns:a="http://schemas.openxmlformats.org/drawingml/2006/main">
            <a:off x="819150" y="2457450"/>
            <a:ext cx="2781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42735"/>
                </a:solidFill>
                <a:latin typeface="Avenir Next"/>
                <a:ea typeface="Avenir Next"/>
                <a:cs typeface="Avenir Next"/>
              </a:defRPr>
            </a:pPr>
            <a:r>
              <a:rPr sz="2550" b="1">
                <a:solidFill>
                  <a:srgbClr val="142735"/>
                </a:solidFill>
                <a:latin typeface="Avenir Next"/>
                <a:ea typeface="Avenir Next"/>
                <a:cs typeface="Avenir Next"/>
              </a:rPr>
              <a:t>1.2292 m</a:t>
            </a:r>
          </a:p>
        </p:txBody>
      </p:sp>
      <p:sp>
        <p:nvSpPr>
          <p:cNvPr id="9" name="">
            <a:extLst xmlns:a="http://schemas.openxmlformats.org/drawingml/2006/main">
              <a:ext uri="{FF2B5EF4-FFF2-40B4-BE49-F238E27FC236}">
                <a16:creationId xmlns:a16="http://schemas.microsoft.com/office/drawing/2014/main" id="{4D0BFB52-2C55-487C-98F6-A2B5EB809302}"/>
              </a:ext>
            </a:extLst>
          </p:cNvPr>
          <p:cNvSpPr>
            <a:spLocks xmlns:a="http://schemas.openxmlformats.org/drawingml/2006/main" noGrp="1"/>
          </p:cNvSpPr>
          <p:nvPr/>
        </p:nvSpPr>
        <p:spPr>
          <a:xfrm xmlns:a="http://schemas.openxmlformats.org/drawingml/2006/main">
            <a:off x="819150" y="3143250"/>
            <a:ext cx="27813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B6770"/>
                </a:solidFill>
                <a:latin typeface="Avenir Next"/>
                <a:ea typeface="Avenir Next"/>
                <a:cs typeface="Avenir Next"/>
              </a:defRPr>
            </a:pPr>
            <a:r>
              <a:rPr sz="1425" b="0">
                <a:solidFill>
                  <a:srgbClr val="5B6770"/>
                </a:solidFill>
                <a:latin typeface="Avenir Next"/>
                <a:ea typeface="Avenir Next"/>
                <a:cs typeface="Avenir Next"/>
              </a:rPr>
              <a:t>minimum blue displacement</a:t>
            </a:r>
          </a:p>
          <a:p xmlns:a="http://schemas.openxmlformats.org/drawingml/2006/main">
            <a:pPr algn="l">
              <a:defRPr sz="1425" b="0">
                <a:solidFill>
                  <a:srgbClr val="5B6770"/>
                </a:solidFill>
                <a:latin typeface="Avenir Next"/>
                <a:ea typeface="Avenir Next"/>
                <a:cs typeface="Avenir Next"/>
              </a:defRPr>
            </a:pPr>
            <a:r>
              <a:rPr sz="1425" b="0">
                <a:solidFill>
                  <a:srgbClr val="5B6770"/>
                </a:solidFill>
                <a:latin typeface="Avenir Next"/>
                <a:ea typeface="Avenir Next"/>
                <a:cs typeface="Avenir Next"/>
              </a:rPr>
              <a:t>red ≤ 0.0448 m</a:t>
            </a:r>
          </a:p>
          <a:p xmlns:a="http://schemas.openxmlformats.org/drawingml/2006/main">
            <a:pPr algn="l">
              <a:defRPr sz="1425" b="0">
                <a:solidFill>
                  <a:srgbClr val="5B6770"/>
                </a:solidFill>
                <a:latin typeface="Avenir Next"/>
                <a:ea typeface="Avenir Next"/>
                <a:cs typeface="Avenir Next"/>
              </a:defRPr>
            </a:pPr>
            <a:r>
              <a:rPr sz="1425" b="0">
                <a:solidFill>
                  <a:srgbClr val="5B6770"/>
                </a:solidFill>
                <a:latin typeface="Avenir Next"/>
                <a:ea typeface="Avenir Next"/>
                <a:cs typeface="Avenir Next"/>
              </a:rPr>
              <a:t>0 falls</a:t>
            </a:r>
          </a:p>
        </p:txBody>
      </p:sp>
      <p:sp>
        <p:nvSpPr>
          <p:cNvPr id="10" name="">
            <a:extLst xmlns:a="http://schemas.openxmlformats.org/drawingml/2006/main">
              <a:ext uri="{FF2B5EF4-FFF2-40B4-BE49-F238E27FC236}">
                <a16:creationId xmlns:a16="http://schemas.microsoft.com/office/drawing/2014/main" id="{695CDE62-5FFC-4223-8582-6135BCDBA435}"/>
              </a:ext>
            </a:extLst>
          </p:cNvPr>
          <p:cNvSpPr>
            <a:spLocks xmlns:a="http://schemas.openxmlformats.org/drawingml/2006/main" noGrp="1"/>
          </p:cNvSpPr>
          <p:nvPr/>
        </p:nvSpPr>
        <p:spPr>
          <a:xfrm xmlns:a="http://schemas.openxmlformats.org/drawingml/2006/main">
            <a:off x="4248150" y="1885950"/>
            <a:ext cx="3200400" cy="2724150"/>
          </a:xfrm>
          <a:prstGeom xmlns:a="http://schemas.openxmlformats.org/drawingml/2006/main" prst="roundRect">
            <a:avLst>
              <a:gd name="adj" fmla="val 2797"/>
            </a:avLst>
          </a:prstGeom>
          <a:solidFill xmlns:a="http://schemas.openxmlformats.org/drawingml/2006/main">
            <a:srgbClr val="E5F5EF"/>
          </a:solidFill>
          <a:ln xmlns:a="http://schemas.openxmlformats.org/drawingml/2006/main" w="14288">
            <a:solidFill>
              <a:srgbClr val="167A5B"/>
            </a:solidFill>
            <a:prstDash val="solid"/>
          </a:ln>
        </p:spPr>
      </p:sp>
      <p:sp>
        <p:nvSpPr>
          <p:cNvPr id="11" name="">
            <a:extLst xmlns:a="http://schemas.openxmlformats.org/drawingml/2006/main">
              <a:ext uri="{FF2B5EF4-FFF2-40B4-BE49-F238E27FC236}">
                <a16:creationId xmlns:a16="http://schemas.microsoft.com/office/drawing/2014/main" id="{8C96A38D-F74F-49C9-9370-4A9992D88624}"/>
              </a:ext>
            </a:extLst>
          </p:cNvPr>
          <p:cNvSpPr>
            <a:spLocks xmlns:a="http://schemas.openxmlformats.org/drawingml/2006/main" noGrp="1"/>
          </p:cNvSpPr>
          <p:nvPr/>
        </p:nvSpPr>
        <p:spPr>
          <a:xfrm xmlns:a="http://schemas.openxmlformats.org/drawingml/2006/main">
            <a:off x="4457700" y="2076450"/>
            <a:ext cx="2781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167A5B"/>
                </a:solidFill>
                <a:latin typeface="Avenir Next"/>
                <a:ea typeface="Avenir Next"/>
                <a:cs typeface="Avenir Next"/>
              </a:defRPr>
            </a:pPr>
            <a:r>
              <a:rPr sz="1050" b="1">
                <a:solidFill>
                  <a:srgbClr val="167A5B"/>
                </a:solidFill>
                <a:latin typeface="Avenir Next"/>
                <a:ea typeface="Avenir Next"/>
                <a:cs typeface="Avenir Next"/>
              </a:rPr>
              <a:t>DIMOS · CONTROL</a:t>
            </a:r>
          </a:p>
        </p:txBody>
      </p:sp>
      <p:sp>
        <p:nvSpPr>
          <p:cNvPr id="12" name="">
            <a:extLst xmlns:a="http://schemas.openxmlformats.org/drawingml/2006/main">
              <a:ext uri="{FF2B5EF4-FFF2-40B4-BE49-F238E27FC236}">
                <a16:creationId xmlns:a16="http://schemas.microsoft.com/office/drawing/2014/main" id="{0098C3D7-D896-454F-A795-F36A63CF15E4}"/>
              </a:ext>
            </a:extLst>
          </p:cNvPr>
          <p:cNvSpPr>
            <a:spLocks xmlns:a="http://schemas.openxmlformats.org/drawingml/2006/main" noGrp="1"/>
          </p:cNvSpPr>
          <p:nvPr/>
        </p:nvSpPr>
        <p:spPr>
          <a:xfrm xmlns:a="http://schemas.openxmlformats.org/drawingml/2006/main">
            <a:off x="4457700" y="2457450"/>
            <a:ext cx="2781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42735"/>
                </a:solidFill>
                <a:latin typeface="Avenir Next"/>
                <a:ea typeface="Avenir Next"/>
                <a:cs typeface="Avenir Next"/>
              </a:defRPr>
            </a:pPr>
            <a:r>
              <a:rPr sz="2550" b="1">
                <a:solidFill>
                  <a:srgbClr val="142735"/>
                </a:solidFill>
                <a:latin typeface="Avenir Next"/>
                <a:ea typeface="Avenir Next"/>
                <a:cs typeface="Avenir Next"/>
              </a:rPr>
              <a:t>45 cycles</a:t>
            </a:r>
          </a:p>
        </p:txBody>
      </p:sp>
      <p:sp>
        <p:nvSpPr>
          <p:cNvPr id="13" name="">
            <a:extLst xmlns:a="http://schemas.openxmlformats.org/drawingml/2006/main">
              <a:ext uri="{FF2B5EF4-FFF2-40B4-BE49-F238E27FC236}">
                <a16:creationId xmlns:a16="http://schemas.microsoft.com/office/drawing/2014/main" id="{294D4CD9-6130-4F0F-8437-3FD5AEE9BB84}"/>
              </a:ext>
            </a:extLst>
          </p:cNvPr>
          <p:cNvSpPr>
            <a:spLocks xmlns:a="http://schemas.openxmlformats.org/drawingml/2006/main" noGrp="1"/>
          </p:cNvSpPr>
          <p:nvPr/>
        </p:nvSpPr>
        <p:spPr>
          <a:xfrm xmlns:a="http://schemas.openxmlformats.org/drawingml/2006/main">
            <a:off x="4457700" y="3143250"/>
            <a:ext cx="27813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B6770"/>
                </a:solidFill>
                <a:latin typeface="Avenir Next"/>
                <a:ea typeface="Avenir Next"/>
                <a:cs typeface="Avenir Next"/>
              </a:defRPr>
            </a:pPr>
            <a:r>
              <a:rPr sz="1425" b="0">
                <a:solidFill>
                  <a:srgbClr val="5B6770"/>
                </a:solidFill>
                <a:latin typeface="Avenir Next"/>
                <a:ea typeface="Avenir Next"/>
                <a:cs typeface="Avenir Next"/>
              </a:rPr>
              <a:t>64 candidates each</a:t>
            </a:r>
          </a:p>
          <a:p xmlns:a="http://schemas.openxmlformats.org/drawingml/2006/main">
            <a:pPr algn="l">
              <a:defRPr sz="1425" b="0">
                <a:solidFill>
                  <a:srgbClr val="5B6770"/>
                </a:solidFill>
                <a:latin typeface="Avenir Next"/>
                <a:ea typeface="Avenir Next"/>
                <a:cs typeface="Avenir Next"/>
              </a:defRPr>
            </a:pPr>
            <a:r>
              <a:rPr sz="1425" b="0">
                <a:solidFill>
                  <a:srgbClr val="5B6770"/>
                </a:solidFill>
                <a:latin typeface="Avenir Next"/>
                <a:ea typeface="Avenir Next"/>
                <a:cs typeface="Avenir Next"/>
              </a:rPr>
              <a:t>6-block forecast</a:t>
            </a:r>
          </a:p>
          <a:p xmlns:a="http://schemas.openxmlformats.org/drawingml/2006/main">
            <a:pPr algn="l">
              <a:defRPr sz="1425" b="0">
                <a:solidFill>
                  <a:srgbClr val="5B6770"/>
                </a:solidFill>
                <a:latin typeface="Avenir Next"/>
                <a:ea typeface="Avenir Next"/>
                <a:cs typeface="Avenir Next"/>
              </a:defRPr>
            </a:pPr>
            <a:r>
              <a:rPr sz="1425" b="0">
                <a:solidFill>
                  <a:srgbClr val="5B6770"/>
                </a:solidFill>
                <a:latin typeface="Avenir Next"/>
                <a:ea typeface="Avenir Next"/>
                <a:cs typeface="Avenir Next"/>
              </a:rPr>
              <a:t>lock before motion</a:t>
            </a:r>
          </a:p>
        </p:txBody>
      </p:sp>
      <p:sp>
        <p:nvSpPr>
          <p:cNvPr id="14" name="">
            <a:extLst xmlns:a="http://schemas.openxmlformats.org/drawingml/2006/main">
              <a:ext uri="{FF2B5EF4-FFF2-40B4-BE49-F238E27FC236}">
                <a16:creationId xmlns:a16="http://schemas.microsoft.com/office/drawing/2014/main" id="{FC3C8BE7-62F9-4C10-B0F3-D5FEA6A5042D}"/>
              </a:ext>
            </a:extLst>
          </p:cNvPr>
          <p:cNvSpPr>
            <a:spLocks xmlns:a="http://schemas.openxmlformats.org/drawingml/2006/main" noGrp="1"/>
          </p:cNvSpPr>
          <p:nvPr/>
        </p:nvSpPr>
        <p:spPr>
          <a:xfrm xmlns:a="http://schemas.openxmlformats.org/drawingml/2006/main">
            <a:off x="7886700" y="1885950"/>
            <a:ext cx="3200400" cy="2724150"/>
          </a:xfrm>
          <a:prstGeom xmlns:a="http://schemas.openxmlformats.org/drawingml/2006/main" prst="roundRect">
            <a:avLst>
              <a:gd name="adj" fmla="val 2797"/>
            </a:avLst>
          </a:prstGeom>
          <a:solidFill xmlns:a="http://schemas.openxmlformats.org/drawingml/2006/main">
            <a:srgbClr val="DDF3F4"/>
          </a:solidFill>
          <a:ln xmlns:a="http://schemas.openxmlformats.org/drawingml/2006/main" w="14288">
            <a:solidFill>
              <a:srgbClr val="2D7F86"/>
            </a:solidFill>
            <a:prstDash val="solid"/>
          </a:ln>
        </p:spPr>
      </p:sp>
      <p:sp>
        <p:nvSpPr>
          <p:cNvPr id="15" name="">
            <a:extLst xmlns:a="http://schemas.openxmlformats.org/drawingml/2006/main">
              <a:ext uri="{FF2B5EF4-FFF2-40B4-BE49-F238E27FC236}">
                <a16:creationId xmlns:a16="http://schemas.microsoft.com/office/drawing/2014/main" id="{13754C87-E00C-477F-A37F-6C0B55C18C69}"/>
              </a:ext>
            </a:extLst>
          </p:cNvPr>
          <p:cNvSpPr>
            <a:spLocks xmlns:a="http://schemas.openxmlformats.org/drawingml/2006/main" noGrp="1"/>
          </p:cNvSpPr>
          <p:nvPr/>
        </p:nvSpPr>
        <p:spPr>
          <a:xfrm xmlns:a="http://schemas.openxmlformats.org/drawingml/2006/main">
            <a:off x="8096250" y="2076450"/>
            <a:ext cx="2781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050" b="1">
                <a:solidFill>
                  <a:srgbClr val="2D7F86"/>
                </a:solidFill>
                <a:latin typeface="Avenir Next"/>
                <a:ea typeface="Avenir Next"/>
                <a:cs typeface="Avenir Next"/>
              </a:defRPr>
            </a:pPr>
            <a:r>
              <a:rPr sz="1050" b="1">
                <a:solidFill>
                  <a:srgbClr val="2D7F86"/>
                </a:solidFill>
                <a:latin typeface="Avenir Next"/>
                <a:ea typeface="Avenir Next"/>
                <a:cs typeface="Avenir Next"/>
              </a:rPr>
              <a:t>SOFTWARE</a:t>
            </a:r>
          </a:p>
        </p:txBody>
      </p:sp>
      <p:sp>
        <p:nvSpPr>
          <p:cNvPr id="16" name="">
            <a:extLst xmlns:a="http://schemas.openxmlformats.org/drawingml/2006/main">
              <a:ext uri="{FF2B5EF4-FFF2-40B4-BE49-F238E27FC236}">
                <a16:creationId xmlns:a16="http://schemas.microsoft.com/office/drawing/2014/main" id="{C571ADD4-6F74-44D8-BC56-EC284E5D1A0D}"/>
              </a:ext>
            </a:extLst>
          </p:cNvPr>
          <p:cNvSpPr>
            <a:spLocks xmlns:a="http://schemas.openxmlformats.org/drawingml/2006/main" noGrp="1"/>
          </p:cNvSpPr>
          <p:nvPr/>
        </p:nvSpPr>
        <p:spPr>
          <a:xfrm xmlns:a="http://schemas.openxmlformats.org/drawingml/2006/main">
            <a:off x="8096250" y="2457450"/>
            <a:ext cx="2781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42735"/>
                </a:solidFill>
                <a:latin typeface="Avenir Next"/>
                <a:ea typeface="Avenir Next"/>
                <a:cs typeface="Avenir Next"/>
              </a:defRPr>
            </a:pPr>
            <a:r>
              <a:rPr sz="2550" b="1">
                <a:solidFill>
                  <a:srgbClr val="142735"/>
                </a:solidFill>
                <a:latin typeface="Avenir Next"/>
                <a:ea typeface="Avenir Next"/>
                <a:cs typeface="Avenir Next"/>
              </a:rPr>
              <a:t>201 passed</a:t>
            </a:r>
          </a:p>
        </p:txBody>
      </p:sp>
      <p:sp>
        <p:nvSpPr>
          <p:cNvPr id="17" name="">
            <a:extLst xmlns:a="http://schemas.openxmlformats.org/drawingml/2006/main">
              <a:ext uri="{FF2B5EF4-FFF2-40B4-BE49-F238E27FC236}">
                <a16:creationId xmlns:a16="http://schemas.microsoft.com/office/drawing/2014/main" id="{323E639B-A3C5-4A1B-B6B0-A8CA1D86E674}"/>
              </a:ext>
            </a:extLst>
          </p:cNvPr>
          <p:cNvSpPr>
            <a:spLocks xmlns:a="http://schemas.openxmlformats.org/drawingml/2006/main" noGrp="1"/>
          </p:cNvSpPr>
          <p:nvPr/>
        </p:nvSpPr>
        <p:spPr>
          <a:xfrm xmlns:a="http://schemas.openxmlformats.org/drawingml/2006/main">
            <a:off x="8096250" y="3143250"/>
            <a:ext cx="27813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0">
                <a:solidFill>
                  <a:srgbClr val="5B6770"/>
                </a:solidFill>
                <a:latin typeface="Avenir Next"/>
                <a:ea typeface="Avenir Next"/>
                <a:cs typeface="Avenir Next"/>
              </a:defRPr>
            </a:pPr>
            <a:r>
              <a:rPr sz="1425" b="0">
                <a:solidFill>
                  <a:srgbClr val="5B6770"/>
                </a:solidFill>
                <a:latin typeface="Avenir Next"/>
                <a:ea typeface="Avenir Next"/>
                <a:cs typeface="Avenir Next"/>
              </a:rPr>
              <a:t>6 skipped</a:t>
            </a:r>
          </a:p>
          <a:p xmlns:a="http://schemas.openxmlformats.org/drawingml/2006/main">
            <a:pPr algn="l">
              <a:defRPr sz="1425" b="0">
                <a:solidFill>
                  <a:srgbClr val="5B6770"/>
                </a:solidFill>
                <a:latin typeface="Avenir Next"/>
                <a:ea typeface="Avenir Next"/>
                <a:cs typeface="Avenir Next"/>
              </a:defRPr>
            </a:pPr>
            <a:r>
              <a:rPr sz="1425" b="0">
                <a:solidFill>
                  <a:srgbClr val="5B6770"/>
                </a:solidFill>
                <a:latin typeface="Avenir Next"/>
                <a:ea typeface="Avenir Next"/>
                <a:cs typeface="Avenir Next"/>
              </a:rPr>
              <a:t>Ruff + protocol gates</a:t>
            </a:r>
          </a:p>
          <a:p xmlns:a="http://schemas.openxmlformats.org/drawingml/2006/main">
            <a:pPr algn="l">
              <a:defRPr sz="1425" b="0">
                <a:solidFill>
                  <a:srgbClr val="5B6770"/>
                </a:solidFill>
                <a:latin typeface="Avenir Next"/>
                <a:ea typeface="Avenir Next"/>
                <a:cs typeface="Avenir Next"/>
              </a:defRPr>
            </a:pPr>
            <a:r>
              <a:rPr sz="1425" b="0">
                <a:solidFill>
                  <a:srgbClr val="5B6770"/>
                </a:solidFill>
                <a:latin typeface="Avenir Next"/>
                <a:ea typeface="Avenir Next"/>
                <a:cs typeface="Avenir Next"/>
              </a:rPr>
              <a:t>restart + failure path</a:t>
            </a:r>
          </a:p>
        </p:txBody>
      </p:sp>
      <p:sp>
        <p:nvSpPr>
          <p:cNvPr id="18" name="">
            <a:extLst xmlns:a="http://schemas.openxmlformats.org/drawingml/2006/main">
              <a:ext uri="{FF2B5EF4-FFF2-40B4-BE49-F238E27FC236}">
                <a16:creationId xmlns:a16="http://schemas.microsoft.com/office/drawing/2014/main" id="{26211631-978B-40B4-AAFA-8181C50CCFE4}"/>
              </a:ext>
            </a:extLst>
          </p:cNvPr>
          <p:cNvSpPr>
            <a:spLocks xmlns:a="http://schemas.openxmlformats.org/drawingml/2006/main" noGrp="1"/>
          </p:cNvSpPr>
          <p:nvPr/>
        </p:nvSpPr>
        <p:spPr>
          <a:xfrm xmlns:a="http://schemas.openxmlformats.org/drawingml/2006/main">
            <a:off x="2400300" y="4914900"/>
            <a:ext cx="7391400" cy="285750"/>
          </a:xfrm>
          <a:prstGeom xmlns:a="http://schemas.openxmlformats.org/drawingml/2006/main" prst="roundRect">
            <a:avLst>
              <a:gd name="adj" fmla="val 26667"/>
            </a:avLst>
          </a:prstGeom>
          <a:solidFill xmlns:a="http://schemas.openxmlformats.org/drawingml/2006/main">
            <a:srgbClr val="FCEBEC"/>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B27194F-E413-4372-9607-4F7636104745}"/>
              </a:ext>
            </a:extLst>
          </p:cNvPr>
          <p:cNvSpPr>
            <a:spLocks xmlns:a="http://schemas.openxmlformats.org/drawingml/2006/main" noGrp="1"/>
          </p:cNvSpPr>
          <p:nvPr/>
        </p:nvSpPr>
        <p:spPr>
          <a:xfrm xmlns:a="http://schemas.openxmlformats.org/drawingml/2006/main">
            <a:off x="2495550" y="4924425"/>
            <a:ext cx="7200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975" b="1">
                <a:solidFill>
                  <a:srgbClr val="C94C4C"/>
                </a:solidFill>
                <a:latin typeface="Avenir Next"/>
                <a:ea typeface="Avenir Next"/>
                <a:cs typeface="Avenir Next"/>
              </a:defRPr>
            </a:pPr>
            <a:r>
              <a:rPr sz="975" b="1">
                <a:solidFill>
                  <a:srgbClr val="C94C4C"/>
                </a:solidFill>
                <a:latin typeface="Avenir Next"/>
                <a:ea typeface="Avenir Next"/>
                <a:cs typeface="Avenir Next"/>
              </a:rPr>
              <a:t>LEARNED LeWM FAILED G3 — NOT USED FOR CONTROL</a:t>
            </a:r>
          </a:p>
        </p:txBody>
      </p:sp>
      <p:sp>
        <p:nvSpPr>
          <p:cNvPr id="20" name="">
            <a:extLst xmlns:a="http://schemas.openxmlformats.org/drawingml/2006/main">
              <a:ext uri="{FF2B5EF4-FFF2-40B4-BE49-F238E27FC236}">
                <a16:creationId xmlns:a16="http://schemas.microsoft.com/office/drawing/2014/main" id="{839F43CE-8BF2-41CC-9326-836A444279A0}"/>
              </a:ext>
            </a:extLst>
          </p:cNvPr>
          <p:cNvSpPr>
            <a:spLocks xmlns:a="http://schemas.openxmlformats.org/drawingml/2006/main" noGrp="1"/>
          </p:cNvSpPr>
          <p:nvPr/>
        </p:nvSpPr>
        <p:spPr>
          <a:xfrm xmlns:a="http://schemas.openxmlformats.org/drawingml/2006/main">
            <a:off x="1562100" y="5314950"/>
            <a:ext cx="9067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00" b="0">
                <a:solidFill>
                  <a:srgbClr val="5B6770"/>
                </a:solidFill>
                <a:latin typeface="Avenir Next"/>
                <a:ea typeface="Avenir Next"/>
                <a:cs typeface="Avenir Next"/>
              </a:defRPr>
            </a:pPr>
            <a:r>
              <a:rPr sz="1200" b="0">
                <a:solidFill>
                  <a:srgbClr val="5B6770"/>
                </a:solidFill>
                <a:latin typeface="Avenir Next"/>
                <a:ea typeface="Avenir Next"/>
                <a:cs typeface="Avenir Next"/>
              </a:rPr>
              <a:t>G0 remains pending co-owner sign-off  ·  github.com/kellyang135/forepaw</a:t>
            </a:r>
          </a:p>
        </p:txBody>
      </p:sp>
    </p:spTree>
    <p:extLst>
      <p:ext uri="{BB962C8B-B14F-4D97-AF65-F5344CB8AC3E}">
        <p14:creationId xmlns:p14="http://schemas.microsoft.com/office/powerpoint/2010/main" val="638421684"/>
      </p:ext>
    </p:extLst>
  </p:cSld>
</p:sld>
</file>

<file path=ppt/slides/slide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b4dbcd476d6e4f5e"/>
          <a:srcRect xmlns:a="http://schemas.openxmlformats.org/drawingml/2006/main" l="18437" t="0" r="18437" b="0"/>
          <a:stretch xmlns:a="http://schemas.openxmlformats.org/drawingml/2006/main">
            <a:fillRect l="0" t="0" r="0" b="0"/>
          </a:stretch>
        </p:blipFill>
        <p:spPr>
          <a:xfrm xmlns:a="http://schemas.openxmlformats.org/drawingml/2006/main">
            <a:off x="4495800" y="0"/>
            <a:ext cx="76962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629AD0B-C5FD-43E4-9E3D-9F18F77E3E2A}"/>
              </a:ext>
            </a:extLst>
          </p:cNvPr>
          <p:cNvSpPr>
            <a:spLocks xmlns:a="http://schemas.openxmlformats.org/drawingml/2006/main" noGrp="1"/>
          </p:cNvSpPr>
          <p:nvPr/>
        </p:nvSpPr>
        <p:spPr>
          <a:xfrm xmlns:a="http://schemas.openxmlformats.org/drawingml/2006/main">
            <a:off x="0" y="0"/>
            <a:ext cx="4762500" cy="6858000"/>
          </a:xfrm>
          <a:prstGeom xmlns:a="http://schemas.openxmlformats.org/drawingml/2006/main" prst="rect">
            <a:avLst/>
          </a:prstGeom>
          <a:solidFill xmlns:a="http://schemas.openxmlformats.org/drawingml/2006/main">
            <a:srgbClr val="F7F6F1"/>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4DC7E10-2F33-435A-8532-E33D5B6F40A6}"/>
              </a:ext>
            </a:extLst>
          </p:cNvPr>
          <p:cNvSpPr>
            <a:spLocks xmlns:a="http://schemas.openxmlformats.org/drawingml/2006/main" noGrp="1"/>
          </p:cNvSpPr>
          <p:nvPr/>
        </p:nvSpPr>
        <p:spPr>
          <a:xfrm xmlns:a="http://schemas.openxmlformats.org/drawingml/2006/main">
            <a:off x="609600" y="552450"/>
            <a:ext cx="3619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3150" b="1">
                <a:solidFill>
                  <a:srgbClr val="151918"/>
                </a:solidFill>
                <a:latin typeface="Avenir Next"/>
                <a:ea typeface="Avenir Next"/>
                <a:cs typeface="Avenir Next"/>
              </a:defRPr>
            </a:pPr>
            <a:r>
              <a:rPr sz="3150" b="1">
                <a:solidFill>
                  <a:srgbClr val="151918"/>
                </a:solidFill>
                <a:latin typeface="Avenir Next"/>
                <a:ea typeface="Avenir Next"/>
                <a:cs typeface="Avenir Next"/>
              </a:rPr>
              <a:t>Why this architecture matters</a:t>
            </a:r>
          </a:p>
        </p:txBody>
      </p:sp>
      <p:sp>
        <p:nvSpPr>
          <p:cNvPr id="4" name="">
            <a:extLst xmlns:a="http://schemas.openxmlformats.org/drawingml/2006/main">
              <a:ext uri="{FF2B5EF4-FFF2-40B4-BE49-F238E27FC236}">
                <a16:creationId xmlns:a16="http://schemas.microsoft.com/office/drawing/2014/main" id="{8CD046F1-3C70-4B1F-A114-1A234976CD0E}"/>
              </a:ext>
            </a:extLst>
          </p:cNvPr>
          <p:cNvSpPr>
            <a:spLocks xmlns:a="http://schemas.openxmlformats.org/drawingml/2006/main" noGrp="1"/>
          </p:cNvSpPr>
          <p:nvPr/>
        </p:nvSpPr>
        <p:spPr>
          <a:xfrm xmlns:a="http://schemas.openxmlformats.org/drawingml/2006/main">
            <a:off x="609600" y="1790700"/>
            <a:ext cx="342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800" b="0">
                <a:solidFill>
                  <a:srgbClr val="616A67"/>
                </a:solidFill>
                <a:latin typeface="Avenir Next"/>
                <a:ea typeface="Avenir Next"/>
                <a:cs typeface="Avenir Next"/>
              </a:defRPr>
            </a:pPr>
            <a:r>
              <a:rPr sz="1800" b="0">
                <a:solidFill>
                  <a:srgbClr val="616A67"/>
                </a:solidFill>
                <a:latin typeface="Avenir Next"/>
                <a:ea typeface="Avenir Next"/>
                <a:cs typeface="Avenir Next"/>
              </a:rPr>
              <a:t>Physical agents need inspectable decisions before motion.</a:t>
            </a:r>
          </a:p>
        </p:txBody>
      </p:sp>
      <p:sp>
        <p:nvSpPr>
          <p:cNvPr id="5" name="">
            <a:extLst xmlns:a="http://schemas.openxmlformats.org/drawingml/2006/main">
              <a:ext uri="{FF2B5EF4-FFF2-40B4-BE49-F238E27FC236}">
                <a16:creationId xmlns:a16="http://schemas.microsoft.com/office/drawing/2014/main" id="{87C5BEE5-0FB4-4E24-8D10-8B3E845D6BCD}"/>
              </a:ext>
            </a:extLst>
          </p:cNvPr>
          <p:cNvSpPr>
            <a:spLocks xmlns:a="http://schemas.openxmlformats.org/drawingml/2006/main" noGrp="1"/>
          </p:cNvSpPr>
          <p:nvPr/>
        </p:nvSpPr>
        <p:spPr>
          <a:xfrm xmlns:a="http://schemas.openxmlformats.org/drawingml/2006/main">
            <a:off x="609600" y="2743200"/>
            <a:ext cx="3238500" cy="9525"/>
          </a:xfrm>
          <a:prstGeom xmlns:a="http://schemas.openxmlformats.org/drawingml/2006/main" prst="rect">
            <a:avLst/>
          </a:prstGeom>
          <a:solidFill xmlns:a="http://schemas.openxmlformats.org/drawingml/2006/main">
            <a:srgbClr val="D9DDD8"/>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ACFC224-D4B2-44A2-8543-9483F2D0EBD6}"/>
              </a:ext>
            </a:extLst>
          </p:cNvPr>
          <p:cNvSpPr>
            <a:spLocks xmlns:a="http://schemas.openxmlformats.org/drawingml/2006/main" noGrp="1"/>
          </p:cNvSpPr>
          <p:nvPr/>
        </p:nvSpPr>
        <p:spPr>
          <a:xfrm xmlns:a="http://schemas.openxmlformats.org/drawingml/2006/main">
            <a:off x="609600" y="3009900"/>
            <a:ext cx="2476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4350" b="1">
                <a:solidFill>
                  <a:srgbClr val="E45B55"/>
                </a:solidFill>
                <a:latin typeface="Avenir Next"/>
                <a:ea typeface="Avenir Next"/>
                <a:cs typeface="Avenir Next"/>
              </a:defRPr>
            </a:pPr>
            <a:r>
              <a:rPr sz="4350" b="1">
                <a:solidFill>
                  <a:srgbClr val="E45B55"/>
                </a:solidFill>
                <a:latin typeface="Avenir Next"/>
                <a:ea typeface="Avenir Next"/>
                <a:cs typeface="Avenir Next"/>
              </a:rPr>
              <a:t>ONE</a:t>
            </a:r>
          </a:p>
        </p:txBody>
      </p:sp>
      <p:sp>
        <p:nvSpPr>
          <p:cNvPr id="7" name="">
            <a:extLst xmlns:a="http://schemas.openxmlformats.org/drawingml/2006/main">
              <a:ext uri="{FF2B5EF4-FFF2-40B4-BE49-F238E27FC236}">
                <a16:creationId xmlns:a16="http://schemas.microsoft.com/office/drawing/2014/main" id="{0CA51F15-10A5-42D2-B80E-6E6AFCF34519}"/>
              </a:ext>
            </a:extLst>
          </p:cNvPr>
          <p:cNvSpPr>
            <a:spLocks xmlns:a="http://schemas.openxmlformats.org/drawingml/2006/main" noGrp="1"/>
          </p:cNvSpPr>
          <p:nvPr/>
        </p:nvSpPr>
        <p:spPr>
          <a:xfrm xmlns:a="http://schemas.openxmlformats.org/drawingml/2006/main">
            <a:off x="628650" y="36957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0">
                <a:solidFill>
                  <a:srgbClr val="616A67"/>
                </a:solidFill>
                <a:latin typeface="Avenir Next"/>
                <a:ea typeface="Avenir Next"/>
                <a:cs typeface="Avenir Next"/>
              </a:defRPr>
            </a:pPr>
            <a:r>
              <a:rPr sz="1350" b="0">
                <a:solidFill>
                  <a:srgbClr val="616A67"/>
                </a:solidFill>
                <a:latin typeface="Avenir Next"/>
                <a:ea typeface="Avenir Next"/>
                <a:cs typeface="Avenir Next"/>
              </a:rPr>
              <a:t>motion owner</a:t>
            </a:r>
          </a:p>
        </p:txBody>
      </p:sp>
      <p:sp>
        <p:nvSpPr>
          <p:cNvPr id="8" name="">
            <a:extLst xmlns:a="http://schemas.openxmlformats.org/drawingml/2006/main">
              <a:ext uri="{FF2B5EF4-FFF2-40B4-BE49-F238E27FC236}">
                <a16:creationId xmlns:a16="http://schemas.microsoft.com/office/drawing/2014/main" id="{958AA693-2E6C-4418-B4D2-14CA436DF3E9}"/>
              </a:ext>
            </a:extLst>
          </p:cNvPr>
          <p:cNvSpPr>
            <a:spLocks xmlns:a="http://schemas.openxmlformats.org/drawingml/2006/main" noGrp="1"/>
          </p:cNvSpPr>
          <p:nvPr/>
        </p:nvSpPr>
        <p:spPr>
          <a:xfrm xmlns:a="http://schemas.openxmlformats.org/drawingml/2006/main">
            <a:off x="609600" y="4286250"/>
            <a:ext cx="2476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3300" b="1">
                <a:solidFill>
                  <a:srgbClr val="151918"/>
                </a:solidFill>
                <a:latin typeface="Avenir Next"/>
                <a:ea typeface="Avenir Next"/>
                <a:cs typeface="Avenir Next"/>
              </a:defRPr>
            </a:pPr>
            <a:r>
              <a:rPr sz="3300" b="1">
                <a:solidFill>
                  <a:srgbClr val="151918"/>
                </a:solidFill>
                <a:latin typeface="Avenir Next"/>
                <a:ea typeface="Avenir Next"/>
                <a:cs typeface="Avenir Next"/>
              </a:rPr>
              <a:t>SIX</a:t>
            </a:r>
          </a:p>
        </p:txBody>
      </p:sp>
      <p:sp>
        <p:nvSpPr>
          <p:cNvPr id="9" name="">
            <a:extLst xmlns:a="http://schemas.openxmlformats.org/drawingml/2006/main">
              <a:ext uri="{FF2B5EF4-FFF2-40B4-BE49-F238E27FC236}">
                <a16:creationId xmlns:a16="http://schemas.microsoft.com/office/drawing/2014/main" id="{0FCA3B7B-CBF2-44EF-B1F3-F14FD4A1DB28}"/>
              </a:ext>
            </a:extLst>
          </p:cNvPr>
          <p:cNvSpPr>
            <a:spLocks xmlns:a="http://schemas.openxmlformats.org/drawingml/2006/main" noGrp="1"/>
          </p:cNvSpPr>
          <p:nvPr/>
        </p:nvSpPr>
        <p:spPr>
          <a:xfrm xmlns:a="http://schemas.openxmlformats.org/drawingml/2006/main">
            <a:off x="628650" y="4857750"/>
            <a:ext cx="247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0">
                <a:solidFill>
                  <a:srgbClr val="616A67"/>
                </a:solidFill>
                <a:latin typeface="Avenir Next"/>
                <a:ea typeface="Avenir Next"/>
                <a:cs typeface="Avenir Next"/>
              </a:defRPr>
            </a:pPr>
            <a:r>
              <a:rPr sz="1350" b="0">
                <a:solidFill>
                  <a:srgbClr val="616A67"/>
                </a:solidFill>
                <a:latin typeface="Avenir Next"/>
                <a:ea typeface="Avenir Next"/>
                <a:cs typeface="Avenir Next"/>
              </a:rPr>
              <a:t>forecast blocks</a:t>
            </a:r>
          </a:p>
        </p:txBody>
      </p:sp>
      <p:sp>
        <p:nvSpPr>
          <p:cNvPr id="10" name="">
            <a:extLst xmlns:a="http://schemas.openxmlformats.org/drawingml/2006/main">
              <a:ext uri="{FF2B5EF4-FFF2-40B4-BE49-F238E27FC236}">
                <a16:creationId xmlns:a16="http://schemas.microsoft.com/office/drawing/2014/main" id="{8434A5A0-F0A2-443B-A792-8089C7201936}"/>
              </a:ext>
            </a:extLst>
          </p:cNvPr>
          <p:cNvSpPr>
            <a:spLocks xmlns:a="http://schemas.openxmlformats.org/drawingml/2006/main" noGrp="1"/>
          </p:cNvSpPr>
          <p:nvPr/>
        </p:nvSpPr>
        <p:spPr>
          <a:xfrm xmlns:a="http://schemas.openxmlformats.org/drawingml/2006/main">
            <a:off x="609600" y="5391150"/>
            <a:ext cx="3238500" cy="38100"/>
          </a:xfrm>
          <a:prstGeom xmlns:a="http://schemas.openxmlformats.org/drawingml/2006/main" prst="rect">
            <a:avLst/>
          </a:prstGeom>
          <a:solidFill xmlns:a="http://schemas.openxmlformats.org/drawingml/2006/main">
            <a:srgbClr val="E45B5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CFAE0B0-B2E0-4624-A446-6A11B3D688CD}"/>
              </a:ext>
            </a:extLst>
          </p:cNvPr>
          <p:cNvSpPr>
            <a:spLocks xmlns:a="http://schemas.openxmlformats.org/drawingml/2006/main" noGrp="1"/>
          </p:cNvSpPr>
          <p:nvPr/>
        </p:nvSpPr>
        <p:spPr>
          <a:xfrm xmlns:a="http://schemas.openxmlformats.org/drawingml/2006/main">
            <a:off x="609600" y="5619750"/>
            <a:ext cx="323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800" b="1">
                <a:solidFill>
                  <a:srgbClr val="151918"/>
                </a:solidFill>
                <a:latin typeface="Avenir Next"/>
                <a:ea typeface="Avenir Next"/>
                <a:cs typeface="Avenir Next"/>
              </a:defRPr>
            </a:pPr>
            <a:r>
              <a:rPr sz="1800" b="1">
                <a:solidFill>
                  <a:srgbClr val="151918"/>
                </a:solidFill>
                <a:latin typeface="Avenir Next"/>
                <a:ea typeface="Avenir Next"/>
                <a:cs typeface="Avenir Next"/>
              </a:rPr>
              <a:t>Audit every action</a:t>
            </a:r>
          </a:p>
        </p:txBody>
      </p:sp>
      <p:sp>
        <p:nvSpPr>
          <p:cNvPr id="12" name="">
            <a:extLst xmlns:a="http://schemas.openxmlformats.org/drawingml/2006/main">
              <a:ext uri="{FF2B5EF4-FFF2-40B4-BE49-F238E27FC236}">
                <a16:creationId xmlns:a16="http://schemas.microsoft.com/office/drawing/2014/main" id="{1E47722D-58AE-4825-8869-23842111364C}"/>
              </a:ext>
            </a:extLst>
          </p:cNvPr>
          <p:cNvSpPr>
            <a:spLocks xmlns:a="http://schemas.openxmlformats.org/drawingml/2006/main" noGrp="1"/>
          </p:cNvSpPr>
          <p:nvPr/>
        </p:nvSpPr>
        <p:spPr>
          <a:xfrm xmlns:a="http://schemas.openxmlformats.org/drawingml/2006/main">
            <a:off x="609600" y="6343650"/>
            <a:ext cx="3581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900" b="1">
                <a:solidFill>
                  <a:srgbClr val="B5791D"/>
                </a:solidFill>
                <a:latin typeface="Avenir Next"/>
                <a:ea typeface="Avenir Next"/>
                <a:cs typeface="Avenir Next"/>
              </a:defRPr>
            </a:pPr>
            <a:r>
              <a:rPr sz="900" b="1">
                <a:solidFill>
                  <a:srgbClr val="B5791D"/>
                </a:solidFill>
                <a:latin typeface="Avenir Next"/>
                <a:ea typeface="Avenir Next"/>
                <a:cs typeface="Avenir Next"/>
              </a:rPr>
              <a:t>VALUE HYPOTHESIS · WORKFLOW VERIFIED</a:t>
            </a:r>
          </a:p>
        </p:txBody>
      </p:sp>
      <p:sp>
        <p:nvSpPr>
          <p:cNvPr id="14" name="">
            <a:extLst xmlns:a="http://schemas.openxmlformats.org/drawingml/2006/main">
              <a:ext uri="{FF2B5EF4-FFF2-40B4-BE49-F238E27FC236}">
                <a16:creationId xmlns:a16="http://schemas.microsoft.com/office/drawing/2014/main" id="{AA1570EF-4C47-4492-921F-8F1FD9FEAB50}"/>
              </a:ext>
            </a:extLst>
          </p:cNvPr>
          <p:cNvSpPr>
            <a:spLocks xmlns:a="http://schemas.openxmlformats.org/drawingml/2006/main" noGrp="1"/>
          </p:cNvSpPr>
          <p:nvPr/>
        </p:nvSpPr>
        <p:spPr>
          <a:xfrm xmlns:a="http://schemas.openxmlformats.org/drawingml/2006/main">
            <a:off x="0" y="0"/>
            <a:ext cx="4762500" cy="6858000"/>
          </a:xfrm>
          <a:prstGeom xmlns:a="http://schemas.openxmlformats.org/drawingml/2006/main" prst="rect">
            <a:avLst/>
          </a:prstGeom>
          <a:solidFill xmlns:a="http://schemas.openxmlformats.org/drawingml/2006/main">
            <a:srgbClr val="FCFBF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3833539-4A8B-459C-A663-8EAFAD959078}"/>
              </a:ext>
            </a:extLst>
          </p:cNvPr>
          <p:cNvSpPr>
            <a:spLocks xmlns:a="http://schemas.openxmlformats.org/drawingml/2006/main" noGrp="1"/>
          </p:cNvSpPr>
          <p:nvPr/>
        </p:nvSpPr>
        <p:spPr>
          <a:xfrm xmlns:a="http://schemas.openxmlformats.org/drawingml/2006/main">
            <a:off x="609600" y="552450"/>
            <a:ext cx="33147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42735"/>
                </a:solidFill>
                <a:latin typeface="Avenir Next"/>
                <a:ea typeface="Avenir Next"/>
                <a:cs typeface="Avenir Next"/>
              </a:defRPr>
            </a:pPr>
            <a:r>
              <a:rPr sz="2550" b="1">
                <a:solidFill>
                  <a:srgbClr val="142735"/>
                </a:solidFill>
                <a:latin typeface="Avenir Next"/>
                <a:ea typeface="Avenir Next"/>
                <a:cs typeface="Avenir Next"/>
              </a:rPr>
              <a:t>Why inspectable</a:t>
            </a:r>
          </a:p>
          <a:p xmlns:a="http://schemas.openxmlformats.org/drawingml/2006/main">
            <a:pPr algn="l">
              <a:defRPr sz="2550" b="1">
                <a:solidFill>
                  <a:srgbClr val="142735"/>
                </a:solidFill>
                <a:latin typeface="Avenir Next"/>
                <a:ea typeface="Avenir Next"/>
                <a:cs typeface="Avenir Next"/>
              </a:defRPr>
            </a:pPr>
            <a:r>
              <a:rPr sz="2550" b="1">
                <a:solidFill>
                  <a:srgbClr val="142735"/>
                </a:solidFill>
                <a:latin typeface="Avenir Next"/>
                <a:ea typeface="Avenir Next"/>
                <a:cs typeface="Avenir Next"/>
              </a:rPr>
              <a:t>control matters</a:t>
            </a:r>
          </a:p>
        </p:txBody>
      </p:sp>
      <p:sp>
        <p:nvSpPr>
          <p:cNvPr id="16" name="">
            <a:extLst xmlns:a="http://schemas.openxmlformats.org/drawingml/2006/main">
              <a:ext uri="{FF2B5EF4-FFF2-40B4-BE49-F238E27FC236}">
                <a16:creationId xmlns:a16="http://schemas.microsoft.com/office/drawing/2014/main" id="{FCF4A550-4444-4A0D-AED1-49DCD41E5216}"/>
              </a:ext>
            </a:extLst>
          </p:cNvPr>
          <p:cNvSpPr>
            <a:spLocks xmlns:a="http://schemas.openxmlformats.org/drawingml/2006/main" noGrp="1"/>
          </p:cNvSpPr>
          <p:nvPr/>
        </p:nvSpPr>
        <p:spPr>
          <a:xfrm xmlns:a="http://schemas.openxmlformats.org/drawingml/2006/main">
            <a:off x="609600" y="1809750"/>
            <a:ext cx="335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712"/>
          </a:bodyPr>
          <a:lstStyle xmlns:a="http://schemas.openxmlformats.org/drawingml/2006/main"/>
          <a:p xmlns:a="http://schemas.openxmlformats.org/drawingml/2006/main">
            <a:pPr algn="l">
              <a:defRPr sz="1575" b="0">
                <a:solidFill>
                  <a:srgbClr val="5B6770"/>
                </a:solidFill>
                <a:latin typeface="Avenir Next"/>
                <a:ea typeface="Avenir Next"/>
                <a:cs typeface="Avenir Next"/>
              </a:defRPr>
            </a:pPr>
            <a:r>
              <a:rPr sz="1575" b="0">
                <a:solidFill>
                  <a:srgbClr val="5B6770"/>
                </a:solidFill>
                <a:latin typeface="Avenir Next"/>
                <a:ea typeface="Avenir Next"/>
                <a:cs typeface="Avenir Next"/>
              </a:rPr>
              <a:t>Physical agents need decisions that can be reviewed before motion.</a:t>
            </a:r>
          </a:p>
        </p:txBody>
      </p:sp>
      <p:sp>
        <p:nvSpPr>
          <p:cNvPr id="17" name="">
            <a:extLst xmlns:a="http://schemas.openxmlformats.org/drawingml/2006/main">
              <a:ext uri="{FF2B5EF4-FFF2-40B4-BE49-F238E27FC236}">
                <a16:creationId xmlns:a16="http://schemas.microsoft.com/office/drawing/2014/main" id="{7C23D571-014C-4609-9670-5A5A740A8325}"/>
              </a:ext>
            </a:extLst>
          </p:cNvPr>
          <p:cNvSpPr>
            <a:spLocks xmlns:a="http://schemas.openxmlformats.org/drawingml/2006/main" noGrp="1"/>
          </p:cNvSpPr>
          <p:nvPr/>
        </p:nvSpPr>
        <p:spPr>
          <a:xfrm xmlns:a="http://schemas.openxmlformats.org/drawingml/2006/main">
            <a:off x="609600" y="2724150"/>
            <a:ext cx="3238500" cy="9525"/>
          </a:xfrm>
          <a:prstGeom xmlns:a="http://schemas.openxmlformats.org/drawingml/2006/main" prst="rect">
            <a:avLst/>
          </a:prstGeom>
          <a:solidFill xmlns:a="http://schemas.openxmlformats.org/drawingml/2006/main">
            <a:srgbClr val="D6D9D7"/>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39BBB6F-CF89-4FE1-AE1C-BD4874F0AAD6}"/>
              </a:ext>
            </a:extLst>
          </p:cNvPr>
          <p:cNvSpPr>
            <a:spLocks xmlns:a="http://schemas.openxmlformats.org/drawingml/2006/main" noGrp="1"/>
          </p:cNvSpPr>
          <p:nvPr/>
        </p:nvSpPr>
        <p:spPr>
          <a:xfrm xmlns:a="http://schemas.openxmlformats.org/drawingml/2006/main">
            <a:off x="609600" y="3048000"/>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C94C4C"/>
                </a:solidFill>
                <a:latin typeface="Avenir Next"/>
                <a:ea typeface="Avenir Next"/>
                <a:cs typeface="Avenir Next"/>
              </a:defRPr>
            </a:pPr>
            <a:r>
              <a:rPr sz="2850" b="1">
                <a:solidFill>
                  <a:srgbClr val="C94C4C"/>
                </a:solidFill>
                <a:latin typeface="Avenir Next"/>
                <a:ea typeface="Avenir Next"/>
                <a:cs typeface="Avenir Next"/>
              </a:rPr>
              <a:t>ONE</a:t>
            </a:r>
          </a:p>
        </p:txBody>
      </p:sp>
      <p:sp>
        <p:nvSpPr>
          <p:cNvPr id="19" name="">
            <a:extLst xmlns:a="http://schemas.openxmlformats.org/drawingml/2006/main">
              <a:ext uri="{FF2B5EF4-FFF2-40B4-BE49-F238E27FC236}">
                <a16:creationId xmlns:a16="http://schemas.microsoft.com/office/drawing/2014/main" id="{8D6D3F1B-6AF4-4D40-9257-33A3236B8910}"/>
              </a:ext>
            </a:extLst>
          </p:cNvPr>
          <p:cNvSpPr>
            <a:spLocks xmlns:a="http://schemas.openxmlformats.org/drawingml/2006/main" noGrp="1"/>
          </p:cNvSpPr>
          <p:nvPr/>
        </p:nvSpPr>
        <p:spPr>
          <a:xfrm xmlns:a="http://schemas.openxmlformats.org/drawingml/2006/main">
            <a:off x="609600" y="363855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B6770"/>
                </a:solidFill>
                <a:latin typeface="Avenir Next"/>
                <a:ea typeface="Avenir Next"/>
                <a:cs typeface="Avenir Next"/>
              </a:defRPr>
            </a:pPr>
            <a:r>
              <a:rPr sz="1350" b="0">
                <a:solidFill>
                  <a:srgbClr val="5B6770"/>
                </a:solidFill>
                <a:latin typeface="Avenir Next"/>
                <a:ea typeface="Avenir Next"/>
                <a:cs typeface="Avenir Next"/>
              </a:rPr>
              <a:t>motion owner</a:t>
            </a:r>
          </a:p>
        </p:txBody>
      </p:sp>
      <p:sp>
        <p:nvSpPr>
          <p:cNvPr id="20" name="">
            <a:extLst xmlns:a="http://schemas.openxmlformats.org/drawingml/2006/main">
              <a:ext uri="{FF2B5EF4-FFF2-40B4-BE49-F238E27FC236}">
                <a16:creationId xmlns:a16="http://schemas.microsoft.com/office/drawing/2014/main" id="{6F555551-59BE-4B93-88C5-B0E11CC27C2C}"/>
              </a:ext>
            </a:extLst>
          </p:cNvPr>
          <p:cNvSpPr>
            <a:spLocks xmlns:a="http://schemas.openxmlformats.org/drawingml/2006/main" noGrp="1"/>
          </p:cNvSpPr>
          <p:nvPr/>
        </p:nvSpPr>
        <p:spPr>
          <a:xfrm xmlns:a="http://schemas.openxmlformats.org/drawingml/2006/main">
            <a:off x="609600" y="4248150"/>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850" b="1">
                <a:solidFill>
                  <a:srgbClr val="142735"/>
                </a:solidFill>
                <a:latin typeface="Avenir Next"/>
                <a:ea typeface="Avenir Next"/>
                <a:cs typeface="Avenir Next"/>
              </a:defRPr>
            </a:pPr>
            <a:r>
              <a:rPr sz="2850" b="1">
                <a:solidFill>
                  <a:srgbClr val="142735"/>
                </a:solidFill>
                <a:latin typeface="Avenir Next"/>
                <a:ea typeface="Avenir Next"/>
                <a:cs typeface="Avenir Next"/>
              </a:rPr>
              <a:t>SIX</a:t>
            </a:r>
          </a:p>
        </p:txBody>
      </p:sp>
      <p:sp>
        <p:nvSpPr>
          <p:cNvPr id="21" name="">
            <a:extLst xmlns:a="http://schemas.openxmlformats.org/drawingml/2006/main">
              <a:ext uri="{FF2B5EF4-FFF2-40B4-BE49-F238E27FC236}">
                <a16:creationId xmlns:a16="http://schemas.microsoft.com/office/drawing/2014/main" id="{5138318C-3DF1-405F-9983-223BE544B75E}"/>
              </a:ext>
            </a:extLst>
          </p:cNvPr>
          <p:cNvSpPr>
            <a:spLocks xmlns:a="http://schemas.openxmlformats.org/drawingml/2006/main" noGrp="1"/>
          </p:cNvSpPr>
          <p:nvPr/>
        </p:nvSpPr>
        <p:spPr>
          <a:xfrm xmlns:a="http://schemas.openxmlformats.org/drawingml/2006/main">
            <a:off x="609600" y="4838700"/>
            <a:ext cx="228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5B6770"/>
                </a:solidFill>
                <a:latin typeface="Avenir Next"/>
                <a:ea typeface="Avenir Next"/>
                <a:cs typeface="Avenir Next"/>
              </a:defRPr>
            </a:pPr>
            <a:r>
              <a:rPr sz="1350" b="0">
                <a:solidFill>
                  <a:srgbClr val="5B6770"/>
                </a:solidFill>
                <a:latin typeface="Avenir Next"/>
                <a:ea typeface="Avenir Next"/>
                <a:cs typeface="Avenir Next"/>
              </a:rPr>
              <a:t>forecast blocks</a:t>
            </a:r>
          </a:p>
        </p:txBody>
      </p:sp>
      <p:sp>
        <p:nvSpPr>
          <p:cNvPr id="22" name="">
            <a:extLst xmlns:a="http://schemas.openxmlformats.org/drawingml/2006/main">
              <a:ext uri="{FF2B5EF4-FFF2-40B4-BE49-F238E27FC236}">
                <a16:creationId xmlns:a16="http://schemas.microsoft.com/office/drawing/2014/main" id="{0A1593D0-33C9-49C8-AF73-0FE4FE9758D0}"/>
              </a:ext>
            </a:extLst>
          </p:cNvPr>
          <p:cNvSpPr>
            <a:spLocks xmlns:a="http://schemas.openxmlformats.org/drawingml/2006/main" noGrp="1"/>
          </p:cNvSpPr>
          <p:nvPr/>
        </p:nvSpPr>
        <p:spPr>
          <a:xfrm xmlns:a="http://schemas.openxmlformats.org/drawingml/2006/main">
            <a:off x="609600" y="5391150"/>
            <a:ext cx="3238500" cy="38100"/>
          </a:xfrm>
          <a:prstGeom xmlns:a="http://schemas.openxmlformats.org/drawingml/2006/main" prst="rect">
            <a:avLst/>
          </a:prstGeom>
          <a:solidFill xmlns:a="http://schemas.openxmlformats.org/drawingml/2006/main">
            <a:srgbClr val="C94C4C"/>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34BD4E3-61BC-4B35-B8EB-716655B9FAA5}"/>
              </a:ext>
            </a:extLst>
          </p:cNvPr>
          <p:cNvSpPr>
            <a:spLocks xmlns:a="http://schemas.openxmlformats.org/drawingml/2006/main" noGrp="1"/>
          </p:cNvSpPr>
          <p:nvPr/>
        </p:nvSpPr>
        <p:spPr>
          <a:xfrm xmlns:a="http://schemas.openxmlformats.org/drawingml/2006/main">
            <a:off x="609600" y="5581650"/>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42735"/>
                </a:solidFill>
                <a:latin typeface="Avenir Next"/>
                <a:ea typeface="Avenir Next"/>
                <a:cs typeface="Avenir Next"/>
              </a:defRPr>
            </a:pPr>
            <a:r>
              <a:rPr sz="1650" b="1">
                <a:solidFill>
                  <a:srgbClr val="142735"/>
                </a:solidFill>
                <a:latin typeface="Avenir Next"/>
                <a:ea typeface="Avenir Next"/>
                <a:cs typeface="Avenir Next"/>
              </a:rPr>
              <a:t>Audit every action</a:t>
            </a:r>
          </a:p>
        </p:txBody>
      </p:sp>
      <p:sp>
        <p:nvSpPr>
          <p:cNvPr id="24" name="">
            <a:extLst xmlns:a="http://schemas.openxmlformats.org/drawingml/2006/main">
              <a:ext uri="{FF2B5EF4-FFF2-40B4-BE49-F238E27FC236}">
                <a16:creationId xmlns:a16="http://schemas.microsoft.com/office/drawing/2014/main" id="{0A1E3E0F-433E-466C-A1AD-802C0DA22B25}"/>
              </a:ext>
            </a:extLst>
          </p:cNvPr>
          <p:cNvSpPr>
            <a:spLocks xmlns:a="http://schemas.openxmlformats.org/drawingml/2006/main" noGrp="1"/>
          </p:cNvSpPr>
          <p:nvPr/>
        </p:nvSpPr>
        <p:spPr>
          <a:xfrm xmlns:a="http://schemas.openxmlformats.org/drawingml/2006/main">
            <a:off x="609600" y="6286500"/>
            <a:ext cx="3429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08"/>
          </a:bodyPr>
          <a:lstStyle xmlns:a="http://schemas.openxmlformats.org/drawingml/2006/main"/>
          <a:p xmlns:a="http://schemas.openxmlformats.org/drawingml/2006/main">
            <a:pPr algn="l">
              <a:defRPr sz="975" b="1">
                <a:solidFill>
                  <a:srgbClr val="A56600"/>
                </a:solidFill>
                <a:latin typeface="Avenir Next"/>
                <a:ea typeface="Avenir Next"/>
                <a:cs typeface="Avenir Next"/>
              </a:defRPr>
            </a:pPr>
            <a:r>
              <a:rPr sz="975" b="1">
                <a:solidFill>
                  <a:srgbClr val="A56600"/>
                </a:solidFill>
                <a:latin typeface="Avenir Next"/>
                <a:ea typeface="Avenir Next"/>
                <a:cs typeface="Avenir Next"/>
              </a:rPr>
              <a:t>VALUE HYPOTHESIS · WORKFLOW VERIFIED</a:t>
            </a:r>
          </a:p>
        </p:txBody>
      </p:sp>
    </p:spTree>
    <p:extLst>
      <p:ext uri="{BB962C8B-B14F-4D97-AF65-F5344CB8AC3E}">
        <p14:creationId xmlns:p14="http://schemas.microsoft.com/office/powerpoint/2010/main" val="2093068710"/>
      </p:ext>
    </p:extLst>
  </p:cSld>
</p:sld>
</file>

<file path=ppt/slides/slide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83A996F-C001-44FB-960A-0682FE62EEF0}"/>
              </a:ext>
            </a:extLst>
          </p:cNvPr>
          <p:cNvSpPr>
            <a:spLocks xmlns:a="http://schemas.openxmlformats.org/drawingml/2006/main" noGrp="1"/>
          </p:cNvSpPr>
          <p:nvPr/>
        </p:nvSpPr>
        <p:spPr>
          <a:xfrm xmlns:a="http://schemas.openxmlformats.org/drawingml/2006/main">
            <a:off x="609600" y="400050"/>
            <a:ext cx="1000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3225" b="1">
                <a:solidFill>
                  <a:srgbClr val="151918"/>
                </a:solidFill>
                <a:latin typeface="Avenir Next"/>
                <a:ea typeface="Avenir Next"/>
                <a:cs typeface="Avenir Next"/>
              </a:defRPr>
            </a:pPr>
            <a:r>
              <a:rPr sz="3225" b="1">
                <a:solidFill>
                  <a:srgbClr val="151918"/>
                </a:solidFill>
                <a:latin typeface="Avenir Next"/>
                <a:ea typeface="Avenir Next"/>
                <a:cs typeface="Avenir Next"/>
              </a:rPr>
              <a:t>Verified now. Next gates.</a:t>
            </a:r>
          </a:p>
        </p:txBody>
      </p:sp>
      <p:sp>
        <p:nvSpPr>
          <p:cNvPr id="2" name="">
            <a:extLst xmlns:a="http://schemas.openxmlformats.org/drawingml/2006/main">
              <a:ext uri="{FF2B5EF4-FFF2-40B4-BE49-F238E27FC236}">
                <a16:creationId xmlns:a16="http://schemas.microsoft.com/office/drawing/2014/main" id="{91E01ADF-ACA2-4AF9-8299-3014D5273BDD}"/>
              </a:ext>
            </a:extLst>
          </p:cNvPr>
          <p:cNvSpPr>
            <a:spLocks xmlns:a="http://schemas.openxmlformats.org/drawingml/2006/main" noGrp="1"/>
          </p:cNvSpPr>
          <p:nvPr/>
        </p:nvSpPr>
        <p:spPr>
          <a:xfrm xmlns:a="http://schemas.openxmlformats.org/drawingml/2006/main">
            <a:off x="11087100" y="523875"/>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buNone/>
              <a:defRPr sz="1050" b="0">
                <a:solidFill>
                  <a:srgbClr val="8C9491"/>
                </a:solidFill>
                <a:latin typeface="Menlo"/>
                <a:ea typeface="Menlo"/>
                <a:cs typeface="Menlo"/>
              </a:defRPr>
            </a:pPr>
            <a:r>
              <a:rPr sz="1050" b="0">
                <a:solidFill>
                  <a:srgbClr val="8C9491"/>
                </a:solidFill>
                <a:latin typeface="Menlo"/>
                <a:ea typeface="Menlo"/>
                <a:cs typeface="Menlo"/>
              </a:rPr>
              <a:t>07</a:t>
            </a:r>
          </a:p>
        </p:txBody>
      </p:sp>
      <p:sp>
        <p:nvSpPr>
          <p:cNvPr id="3" name="">
            <a:extLst xmlns:a="http://schemas.openxmlformats.org/drawingml/2006/main">
              <a:ext uri="{FF2B5EF4-FFF2-40B4-BE49-F238E27FC236}">
                <a16:creationId xmlns:a16="http://schemas.microsoft.com/office/drawing/2014/main" id="{98597371-9D29-440E-B47E-3BCCB4D0946A}"/>
              </a:ext>
            </a:extLst>
          </p:cNvPr>
          <p:cNvSpPr>
            <a:spLocks xmlns:a="http://schemas.openxmlformats.org/drawingml/2006/main" noGrp="1"/>
          </p:cNvSpPr>
          <p:nvPr/>
        </p:nvSpPr>
        <p:spPr>
          <a:xfrm xmlns:a="http://schemas.openxmlformats.org/drawingml/2006/main">
            <a:off x="609600" y="1104900"/>
            <a:ext cx="10972800" cy="9525"/>
          </a:xfrm>
          <a:prstGeom xmlns:a="http://schemas.openxmlformats.org/drawingml/2006/main" prst="rect">
            <a:avLst/>
          </a:prstGeom>
          <a:solidFill xmlns:a="http://schemas.openxmlformats.org/drawingml/2006/main">
            <a:srgbClr val="D9DD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E1B2370-F8A6-43EF-B3B5-329C1B814CF9}"/>
              </a:ext>
            </a:extLst>
          </p:cNvPr>
          <p:cNvSpPr>
            <a:spLocks xmlns:a="http://schemas.openxmlformats.org/drawingml/2006/main" noGrp="1"/>
          </p:cNvSpPr>
          <p:nvPr/>
        </p:nvSpPr>
        <p:spPr>
          <a:xfrm xmlns:a="http://schemas.openxmlformats.org/drawingml/2006/main">
            <a:off x="704850" y="1657350"/>
            <a:ext cx="3143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050" b="1">
                <a:solidFill>
                  <a:srgbClr val="177A5A"/>
                </a:solidFill>
                <a:latin typeface="Avenir Next"/>
                <a:ea typeface="Avenir Next"/>
                <a:cs typeface="Avenir Next"/>
              </a:defRPr>
            </a:pPr>
            <a:r>
              <a:rPr sz="1050" b="1">
                <a:solidFill>
                  <a:srgbClr val="177A5A"/>
                </a:solidFill>
                <a:latin typeface="Avenir Next"/>
                <a:ea typeface="Avenir Next"/>
                <a:cs typeface="Avenir Next"/>
              </a:rPr>
              <a:t>DIMOS + CONTROL</a:t>
            </a:r>
          </a:p>
        </p:txBody>
      </p:sp>
      <p:sp>
        <p:nvSpPr>
          <p:cNvPr id="5" name="">
            <a:extLst xmlns:a="http://schemas.openxmlformats.org/drawingml/2006/main">
              <a:ext uri="{FF2B5EF4-FFF2-40B4-BE49-F238E27FC236}">
                <a16:creationId xmlns:a16="http://schemas.microsoft.com/office/drawing/2014/main" id="{4CBA36C0-E33B-490F-831A-EFC55D338AC1}"/>
              </a:ext>
            </a:extLst>
          </p:cNvPr>
          <p:cNvSpPr>
            <a:spLocks xmlns:a="http://schemas.openxmlformats.org/drawingml/2006/main" noGrp="1"/>
          </p:cNvSpPr>
          <p:nvPr/>
        </p:nvSpPr>
        <p:spPr>
          <a:xfrm xmlns:a="http://schemas.openxmlformats.org/drawingml/2006/main">
            <a:off x="704850" y="2038350"/>
            <a:ext cx="3810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850" b="1">
                <a:solidFill>
                  <a:srgbClr val="151918"/>
                </a:solidFill>
                <a:latin typeface="Avenir Next"/>
                <a:ea typeface="Avenir Next"/>
                <a:cs typeface="Avenir Next"/>
              </a:defRPr>
            </a:pPr>
            <a:r>
              <a:rPr sz="2850" b="1">
                <a:solidFill>
                  <a:srgbClr val="151918"/>
                </a:solidFill>
                <a:latin typeface="Avenir Next"/>
                <a:ea typeface="Avenir Next"/>
                <a:cs typeface="Avenir Next"/>
              </a:rPr>
              <a:t>45 verified cycles</a:t>
            </a:r>
          </a:p>
        </p:txBody>
      </p:sp>
      <p:sp>
        <p:nvSpPr>
          <p:cNvPr id="6" name="">
            <a:extLst xmlns:a="http://schemas.openxmlformats.org/drawingml/2006/main">
              <a:ext uri="{FF2B5EF4-FFF2-40B4-BE49-F238E27FC236}">
                <a16:creationId xmlns:a16="http://schemas.microsoft.com/office/drawing/2014/main" id="{376891F8-E1A2-4187-B9E8-D3466AC82C07}"/>
              </a:ext>
            </a:extLst>
          </p:cNvPr>
          <p:cNvSpPr>
            <a:spLocks xmlns:a="http://schemas.openxmlformats.org/drawingml/2006/main" noGrp="1"/>
          </p:cNvSpPr>
          <p:nvPr/>
        </p:nvSpPr>
        <p:spPr>
          <a:xfrm xmlns:a="http://schemas.openxmlformats.org/drawingml/2006/main">
            <a:off x="704850" y="2781300"/>
            <a:ext cx="400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75" b="0">
                <a:solidFill>
                  <a:srgbClr val="616A67"/>
                </a:solidFill>
                <a:latin typeface="Avenir Next"/>
                <a:ea typeface="Avenir Next"/>
                <a:cs typeface="Avenir Next"/>
              </a:defRPr>
            </a:pPr>
            <a:r>
              <a:rPr sz="1575" b="0">
                <a:solidFill>
                  <a:srgbClr val="616A67"/>
                </a:solidFill>
                <a:latin typeface="Avenir Next"/>
                <a:ea typeface="Avenir Next"/>
                <a:cs typeface="Avenir Next"/>
              </a:rPr>
              <a:t>MCP skill discovery</a:t>
            </a:r>
          </a:p>
          <a:p xmlns:a="http://schemas.openxmlformats.org/drawingml/2006/main">
            <a:pPr algn="l">
              <a:buNone/>
              <a:defRPr sz="1575" b="0">
                <a:solidFill>
                  <a:srgbClr val="616A67"/>
                </a:solidFill>
                <a:latin typeface="Avenir Next"/>
                <a:ea typeface="Avenir Next"/>
                <a:cs typeface="Avenir Next"/>
              </a:defRPr>
            </a:pPr>
            <a:r>
              <a:rPr sz="1575" b="0">
                <a:solidFill>
                  <a:srgbClr val="616A67"/>
                </a:solidFill>
                <a:latin typeface="Avenir Next"/>
                <a:ea typeface="Avenir Next"/>
                <a:cs typeface="Avenir Next"/>
              </a:rPr>
              <a:t>True-Go2 MjLab execution</a:t>
            </a:r>
          </a:p>
          <a:p xmlns:a="http://schemas.openxmlformats.org/drawingml/2006/main">
            <a:pPr algn="l">
              <a:buNone/>
              <a:defRPr sz="1575" b="0">
                <a:solidFill>
                  <a:srgbClr val="616A67"/>
                </a:solidFill>
                <a:latin typeface="Avenir Next"/>
                <a:ea typeface="Avenir Next"/>
                <a:cs typeface="Avenir Next"/>
              </a:defRPr>
            </a:pPr>
            <a:r>
              <a:rPr sz="1575" b="0">
                <a:solidFill>
                  <a:srgbClr val="616A67"/>
                </a:solidFill>
                <a:latin typeface="Avenir Next"/>
                <a:ea typeface="Avenir Next"/>
                <a:cs typeface="Avenir Next"/>
              </a:rPr>
              <a:t>Restart + failure handling</a:t>
            </a:r>
          </a:p>
        </p:txBody>
      </p:sp>
      <p:sp>
        <p:nvSpPr>
          <p:cNvPr id="7" name="">
            <a:extLst xmlns:a="http://schemas.openxmlformats.org/drawingml/2006/main">
              <a:ext uri="{FF2B5EF4-FFF2-40B4-BE49-F238E27FC236}">
                <a16:creationId xmlns:a16="http://schemas.microsoft.com/office/drawing/2014/main" id="{5C6CF906-E918-4C90-BA1E-314AD1F3878E}"/>
              </a:ext>
            </a:extLst>
          </p:cNvPr>
          <p:cNvSpPr>
            <a:spLocks xmlns:a="http://schemas.openxmlformats.org/drawingml/2006/main" noGrp="1"/>
          </p:cNvSpPr>
          <p:nvPr/>
        </p:nvSpPr>
        <p:spPr>
          <a:xfrm xmlns:a="http://schemas.openxmlformats.org/drawingml/2006/main">
            <a:off x="4953000" y="1581150"/>
            <a:ext cx="19050" cy="2438400"/>
          </a:xfrm>
          <a:prstGeom xmlns:a="http://schemas.openxmlformats.org/drawingml/2006/main" prst="rect">
            <a:avLst/>
          </a:prstGeom>
          <a:solidFill xmlns:a="http://schemas.openxmlformats.org/drawingml/2006/main">
            <a:srgbClr val="D9DDD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EA90CBA-784D-4905-A49B-4ABC86F57684}"/>
              </a:ext>
            </a:extLst>
          </p:cNvPr>
          <p:cNvSpPr>
            <a:spLocks xmlns:a="http://schemas.openxmlformats.org/drawingml/2006/main" noGrp="1"/>
          </p:cNvSpPr>
          <p:nvPr/>
        </p:nvSpPr>
        <p:spPr>
          <a:xfrm xmlns:a="http://schemas.openxmlformats.org/drawingml/2006/main">
            <a:off x="5353050" y="1657350"/>
            <a:ext cx="3429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050" b="1">
                <a:solidFill>
                  <a:srgbClr val="B5791D"/>
                </a:solidFill>
                <a:latin typeface="Avenir Next"/>
                <a:ea typeface="Avenir Next"/>
                <a:cs typeface="Avenir Next"/>
              </a:defRPr>
            </a:pPr>
            <a:r>
              <a:rPr sz="1050" b="1">
                <a:solidFill>
                  <a:srgbClr val="B5791D"/>
                </a:solidFill>
                <a:latin typeface="Avenir Next"/>
                <a:ea typeface="Avenir Next"/>
                <a:cs typeface="Avenir Next"/>
              </a:rPr>
              <a:t>SOFTWARE</a:t>
            </a:r>
          </a:p>
        </p:txBody>
      </p:sp>
      <p:sp>
        <p:nvSpPr>
          <p:cNvPr id="9" name="">
            <a:extLst xmlns:a="http://schemas.openxmlformats.org/drawingml/2006/main">
              <a:ext uri="{FF2B5EF4-FFF2-40B4-BE49-F238E27FC236}">
                <a16:creationId xmlns:a16="http://schemas.microsoft.com/office/drawing/2014/main" id="{210FB008-4604-4FAE-86FD-70A5777D39F1}"/>
              </a:ext>
            </a:extLst>
          </p:cNvPr>
          <p:cNvSpPr>
            <a:spLocks xmlns:a="http://schemas.openxmlformats.org/drawingml/2006/main" noGrp="1"/>
          </p:cNvSpPr>
          <p:nvPr/>
        </p:nvSpPr>
        <p:spPr>
          <a:xfrm xmlns:a="http://schemas.openxmlformats.org/drawingml/2006/main">
            <a:off x="5353050" y="2038350"/>
            <a:ext cx="5619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850" b="1">
                <a:solidFill>
                  <a:srgbClr val="151918"/>
                </a:solidFill>
                <a:latin typeface="Avenir Next"/>
                <a:ea typeface="Avenir Next"/>
                <a:cs typeface="Avenir Next"/>
              </a:defRPr>
            </a:pPr>
            <a:r>
              <a:rPr sz="2850" b="1">
                <a:solidFill>
                  <a:srgbClr val="151918"/>
                </a:solidFill>
                <a:latin typeface="Avenir Next"/>
                <a:ea typeface="Avenir Next"/>
                <a:cs typeface="Avenir Next"/>
              </a:rPr>
              <a:t>201 passed · 6 skipped</a:t>
            </a:r>
          </a:p>
        </p:txBody>
      </p:sp>
      <p:sp>
        <p:nvSpPr>
          <p:cNvPr id="10" name="">
            <a:extLst xmlns:a="http://schemas.openxmlformats.org/drawingml/2006/main">
              <a:ext uri="{FF2B5EF4-FFF2-40B4-BE49-F238E27FC236}">
                <a16:creationId xmlns:a16="http://schemas.microsoft.com/office/drawing/2014/main" id="{E8556275-0B31-431E-8D6D-C93A23BEE861}"/>
              </a:ext>
            </a:extLst>
          </p:cNvPr>
          <p:cNvSpPr>
            <a:spLocks xmlns:a="http://schemas.openxmlformats.org/drawingml/2006/main" noGrp="1"/>
          </p:cNvSpPr>
          <p:nvPr/>
        </p:nvSpPr>
        <p:spPr>
          <a:xfrm xmlns:a="http://schemas.openxmlformats.org/drawingml/2006/main">
            <a:off x="5353050" y="2781300"/>
            <a:ext cx="4476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75" b="0">
                <a:solidFill>
                  <a:srgbClr val="616A67"/>
                </a:solidFill>
                <a:latin typeface="Avenir Next"/>
                <a:ea typeface="Avenir Next"/>
                <a:cs typeface="Avenir Next"/>
              </a:defRPr>
            </a:pPr>
            <a:r>
              <a:rPr sz="1575" b="0">
                <a:solidFill>
                  <a:srgbClr val="616A67"/>
                </a:solidFill>
                <a:latin typeface="Avenir Next"/>
                <a:ea typeface="Avenir Next"/>
                <a:cs typeface="Avenir Next"/>
              </a:rPr>
              <a:t>Planner + telemetry contracts</a:t>
            </a:r>
          </a:p>
          <a:p xmlns:a="http://schemas.openxmlformats.org/drawingml/2006/main">
            <a:pPr algn="l">
              <a:buNone/>
              <a:defRPr sz="1575" b="0">
                <a:solidFill>
                  <a:srgbClr val="616A67"/>
                </a:solidFill>
                <a:latin typeface="Avenir Next"/>
                <a:ea typeface="Avenir Next"/>
                <a:cs typeface="Avenir Next"/>
              </a:defRPr>
            </a:pPr>
            <a:r>
              <a:rPr sz="1575" b="0">
                <a:solidFill>
                  <a:srgbClr val="616A67"/>
                </a:solidFill>
                <a:latin typeface="Avenir Next"/>
                <a:ea typeface="Avenir Next"/>
                <a:cs typeface="Avenir Next"/>
              </a:rPr>
              <a:t>Ruff and protocol gates</a:t>
            </a:r>
          </a:p>
          <a:p xmlns:a="http://schemas.openxmlformats.org/drawingml/2006/main">
            <a:pPr algn="l">
              <a:buNone/>
              <a:defRPr sz="1575" b="0">
                <a:solidFill>
                  <a:srgbClr val="616A67"/>
                </a:solidFill>
                <a:latin typeface="Avenir Next"/>
                <a:ea typeface="Avenir Next"/>
                <a:cs typeface="Avenir Next"/>
              </a:defRPr>
            </a:pPr>
            <a:r>
              <a:rPr sz="1575" b="0">
                <a:solidFill>
                  <a:srgbClr val="616A67"/>
                </a:solidFill>
                <a:latin typeface="Avenir Next"/>
                <a:ea typeface="Avenir Next"/>
                <a:cs typeface="Avenir Next"/>
              </a:rPr>
              <a:t>Retained evidence verifier</a:t>
            </a:r>
          </a:p>
        </p:txBody>
      </p:sp>
      <p:sp>
        <p:nvSpPr>
          <p:cNvPr id="11" name="">
            <a:extLst xmlns:a="http://schemas.openxmlformats.org/drawingml/2006/main">
              <a:ext uri="{FF2B5EF4-FFF2-40B4-BE49-F238E27FC236}">
                <a16:creationId xmlns:a16="http://schemas.microsoft.com/office/drawing/2014/main" id="{BA50F1DF-F139-4D01-95EE-A2748DCAF389}"/>
              </a:ext>
            </a:extLst>
          </p:cNvPr>
          <p:cNvSpPr>
            <a:spLocks xmlns:a="http://schemas.openxmlformats.org/drawingml/2006/main" noGrp="1"/>
          </p:cNvSpPr>
          <p:nvPr/>
        </p:nvSpPr>
        <p:spPr>
          <a:xfrm xmlns:a="http://schemas.openxmlformats.org/drawingml/2006/main">
            <a:off x="609600" y="4362450"/>
            <a:ext cx="10972800" cy="9525"/>
          </a:xfrm>
          <a:prstGeom xmlns:a="http://schemas.openxmlformats.org/drawingml/2006/main" prst="rect">
            <a:avLst/>
          </a:prstGeom>
          <a:solidFill xmlns:a="http://schemas.openxmlformats.org/drawingml/2006/main">
            <a:srgbClr val="D9DDD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853C1B6-6081-46D5-9E1A-53E85C277FB3}"/>
              </a:ext>
            </a:extLst>
          </p:cNvPr>
          <p:cNvSpPr>
            <a:spLocks xmlns:a="http://schemas.openxmlformats.org/drawingml/2006/main" noGrp="1"/>
          </p:cNvSpPr>
          <p:nvPr/>
        </p:nvSpPr>
        <p:spPr>
          <a:xfrm xmlns:a="http://schemas.openxmlformats.org/drawingml/2006/main">
            <a:off x="704850" y="4686300"/>
            <a:ext cx="2476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050" b="1">
                <a:solidFill>
                  <a:srgbClr val="E45B55"/>
                </a:solidFill>
                <a:latin typeface="Avenir Next"/>
                <a:ea typeface="Avenir Next"/>
                <a:cs typeface="Avenir Next"/>
              </a:defRPr>
            </a:pPr>
            <a:r>
              <a:rPr sz="1050" b="1">
                <a:solidFill>
                  <a:srgbClr val="E45B55"/>
                </a:solidFill>
                <a:latin typeface="Avenir Next"/>
                <a:ea typeface="Avenir Next"/>
                <a:cs typeface="Avenir Next"/>
              </a:rPr>
              <a:t>NEXT GATES</a:t>
            </a:r>
          </a:p>
        </p:txBody>
      </p:sp>
      <p:sp>
        <p:nvSpPr>
          <p:cNvPr id="13" name="">
            <a:extLst xmlns:a="http://schemas.openxmlformats.org/drawingml/2006/main">
              <a:ext uri="{FF2B5EF4-FFF2-40B4-BE49-F238E27FC236}">
                <a16:creationId xmlns:a16="http://schemas.microsoft.com/office/drawing/2014/main" id="{7BB9BD35-51CA-419A-8790-8DD74E35A70C}"/>
              </a:ext>
            </a:extLst>
          </p:cNvPr>
          <p:cNvSpPr>
            <a:spLocks xmlns:a="http://schemas.openxmlformats.org/drawingml/2006/main" noGrp="1"/>
          </p:cNvSpPr>
          <p:nvPr/>
        </p:nvSpPr>
        <p:spPr>
          <a:xfrm xmlns:a="http://schemas.openxmlformats.org/drawingml/2006/main">
            <a:off x="704850" y="5067300"/>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2025" b="1">
                <a:solidFill>
                  <a:srgbClr val="151918"/>
                </a:solidFill>
                <a:latin typeface="Avenir Next"/>
                <a:ea typeface="Avenir Next"/>
                <a:cs typeface="Avenir Next"/>
              </a:defRPr>
            </a:pPr>
            <a:r>
              <a:rPr sz="2025" b="1">
                <a:solidFill>
                  <a:srgbClr val="151918"/>
                </a:solidFill>
                <a:latin typeface="Avenir Next"/>
                <a:ea typeface="Avenir Next"/>
                <a:cs typeface="Avenir Next"/>
              </a:rPr>
              <a:t>Learned multi-step predictor · held-out evaluation · Linux active stop preemption</a:t>
            </a:r>
          </a:p>
        </p:txBody>
      </p:sp>
      <p:sp>
        <p:nvSpPr>
          <p:cNvPr id="14" name="">
            <a:extLst xmlns:a="http://schemas.openxmlformats.org/drawingml/2006/main">
              <a:ext uri="{FF2B5EF4-FFF2-40B4-BE49-F238E27FC236}">
                <a16:creationId xmlns:a16="http://schemas.microsoft.com/office/drawing/2014/main" id="{72D8F7FB-EBA8-462C-B282-45B7E49A5E5A}"/>
              </a:ext>
            </a:extLst>
          </p:cNvPr>
          <p:cNvSpPr>
            <a:spLocks xmlns:a="http://schemas.openxmlformats.org/drawingml/2006/main" noGrp="1"/>
          </p:cNvSpPr>
          <p:nvPr/>
        </p:nvSpPr>
        <p:spPr>
          <a:xfrm xmlns:a="http://schemas.openxmlformats.org/drawingml/2006/main">
            <a:off x="704850" y="600075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0">
                <a:solidFill>
                  <a:srgbClr val="616A67"/>
                </a:solidFill>
                <a:latin typeface="Avenir Next"/>
                <a:ea typeface="Avenir Next"/>
                <a:cs typeface="Avenir Next"/>
              </a:defRPr>
            </a:pPr>
            <a:r>
              <a:rPr sz="1350" b="0">
                <a:solidFill>
                  <a:srgbClr val="616A67"/>
                </a:solidFill>
                <a:latin typeface="Avenir Next"/>
                <a:ea typeface="Avenir Next"/>
                <a:cs typeface="Avenir Next"/>
              </a:rPr>
              <a:t>Today’s demo uses a privileged reference predictor — deliberately labeled.</a:t>
            </a:r>
          </a:p>
        </p:txBody>
      </p:sp>
    </p:spTree>
    <p:extLst>
      <p:ext uri="{BB962C8B-B14F-4D97-AF65-F5344CB8AC3E}">
        <p14:creationId xmlns:p14="http://schemas.microsoft.com/office/powerpoint/2010/main" val="2217484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2026-09-20T09:26:59.7770000Z</dcterms:created>
  <dcterms:modified xsi:type="dcterms:W3CDTF">2026-09-20T09:26:59.7770000Z</dcterms:modified>
</coreProperties>
</file>